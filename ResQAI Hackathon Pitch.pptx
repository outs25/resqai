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Montserrat Bold" charset="1" panose="00000800000000000000"/>
      <p:regular r:id="rId18"/>
    </p:embeddedFont>
    <p:embeddedFont>
      <p:font typeface="DM Sans" charset="1" panose="00000000000000000000"/>
      <p:regular r:id="rId19"/>
    </p:embeddedFont>
    <p:embeddedFont>
      <p:font typeface="DM Sans Italics" charset="1" panose="00000000000000000000"/>
      <p:regular r:id="rId20"/>
    </p:embeddedFont>
    <p:embeddedFont>
      <p:font typeface="DM Sans Bold" charset="1" panose="000000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572750" y="857250"/>
            <a:ext cx="6667500" cy="8572500"/>
          </a:xfrm>
          <a:custGeom>
            <a:avLst/>
            <a:gdLst/>
            <a:ahLst/>
            <a:cxnLst/>
            <a:rect r="r" b="b" t="t" l="l"/>
            <a:pathLst>
              <a:path h="8572500" w="6667500">
                <a:moveTo>
                  <a:pt x="0" y="0"/>
                </a:moveTo>
                <a:lnTo>
                  <a:pt x="6667500" y="0"/>
                </a:lnTo>
                <a:lnTo>
                  <a:pt x="6667500" y="8572500"/>
                </a:lnTo>
                <a:lnTo>
                  <a:pt x="0" y="8572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8" r="0" b="-98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10306050" y="857250"/>
            <a:ext cx="76200" cy="8572500"/>
            <a:chOff x="0" y="0"/>
            <a:chExt cx="101600" cy="1143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1600" cy="11430000"/>
            </a:xfrm>
            <a:custGeom>
              <a:avLst/>
              <a:gdLst/>
              <a:ahLst/>
              <a:cxnLst/>
              <a:rect r="r" b="b" t="t" l="l"/>
              <a:pathLst>
                <a:path h="114300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1430000"/>
                  </a:lnTo>
                  <a:lnTo>
                    <a:pt x="0" y="11430000"/>
                  </a:lnTo>
                  <a:close/>
                </a:path>
              </a:pathLst>
            </a:custGeom>
            <a:solidFill>
              <a:srgbClr val="38C7D9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01600" cy="1146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66800" y="1028700"/>
            <a:ext cx="552450" cy="552450"/>
            <a:chOff x="0" y="0"/>
            <a:chExt cx="736600" cy="736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36600" cy="736600"/>
            </a:xfrm>
            <a:custGeom>
              <a:avLst/>
              <a:gdLst/>
              <a:ahLst/>
              <a:cxnLst/>
              <a:rect r="r" b="b" t="t" l="l"/>
              <a:pathLst>
                <a:path h="736600" w="736600">
                  <a:moveTo>
                    <a:pt x="368300" y="0"/>
                  </a:moveTo>
                  <a:cubicBezTo>
                    <a:pt x="571706" y="0"/>
                    <a:pt x="736600" y="164894"/>
                    <a:pt x="736600" y="368300"/>
                  </a:cubicBezTo>
                  <a:cubicBezTo>
                    <a:pt x="736600" y="571706"/>
                    <a:pt x="571706" y="736600"/>
                    <a:pt x="368300" y="736600"/>
                  </a:cubicBezTo>
                  <a:cubicBezTo>
                    <a:pt x="164894" y="736600"/>
                    <a:pt x="0" y="571706"/>
                    <a:pt x="0" y="368300"/>
                  </a:cubicBezTo>
                  <a:cubicBezTo>
                    <a:pt x="0" y="164894"/>
                    <a:pt x="164894" y="0"/>
                    <a:pt x="368300" y="0"/>
                  </a:cubicBezTo>
                  <a:close/>
                </a:path>
              </a:pathLst>
            </a:custGeom>
            <a:solidFill>
              <a:srgbClr val="08A6A6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7366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sz="21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66800" y="2628900"/>
            <a:ext cx="8858250" cy="127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05"/>
              </a:lnSpc>
            </a:pPr>
            <a:r>
              <a:rPr lang="en-US" sz="9900" b="true">
                <a:solidFill>
                  <a:srgbClr val="10243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ResQAI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6800" y="4048125"/>
            <a:ext cx="8096250" cy="731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2"/>
              </a:lnSpc>
            </a:pPr>
            <a:r>
              <a:rPr lang="en-US" sz="2100">
                <a:solidFill>
                  <a:srgbClr val="526477"/>
                </a:solidFill>
                <a:latin typeface="DM Sans"/>
                <a:ea typeface="DM Sans"/>
                <a:cs typeface="DM Sans"/>
                <a:sym typeface="DM Sans"/>
              </a:rPr>
              <a:t>AI-Driven Emergency Response</a:t>
            </a:r>
          </a:p>
          <a:p>
            <a:pPr algn="l">
              <a:lnSpc>
                <a:spcPts val="2982"/>
              </a:lnSpc>
            </a:pPr>
            <a:r>
              <a:rPr lang="en-US" sz="2100">
                <a:solidFill>
                  <a:srgbClr val="526477"/>
                </a:solidFill>
                <a:latin typeface="DM Sans"/>
                <a:ea typeface="DM Sans"/>
                <a:cs typeface="DM Sans"/>
                <a:sym typeface="DM Sans"/>
              </a:rPr>
              <a:t>and Resource Coordination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66800" y="6724650"/>
            <a:ext cx="2000250" cy="66675"/>
            <a:chOff x="0" y="0"/>
            <a:chExt cx="2667000" cy="889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667000" cy="88900"/>
            </a:xfrm>
            <a:custGeom>
              <a:avLst/>
              <a:gdLst/>
              <a:ahLst/>
              <a:cxnLst/>
              <a:rect r="r" b="b" t="t" l="l"/>
              <a:pathLst>
                <a:path h="88900" w="2667000">
                  <a:moveTo>
                    <a:pt x="0" y="0"/>
                  </a:moveTo>
                  <a:lnTo>
                    <a:pt x="2667000" y="0"/>
                  </a:lnTo>
                  <a:lnTo>
                    <a:pt x="26670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08A6A6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667000" cy="12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6800" y="752475"/>
            <a:ext cx="14287500" cy="663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 b="true">
                <a:solidFill>
                  <a:srgbClr val="10243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Challenges in Emergency Response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0001250" y="2209800"/>
            <a:ext cx="7219950" cy="6762750"/>
          </a:xfrm>
          <a:custGeom>
            <a:avLst/>
            <a:gdLst/>
            <a:ahLst/>
            <a:cxnLst/>
            <a:rect r="r" b="b" t="t" l="l"/>
            <a:pathLst>
              <a:path h="6762750" w="7219950">
                <a:moveTo>
                  <a:pt x="0" y="0"/>
                </a:moveTo>
                <a:lnTo>
                  <a:pt x="7219950" y="0"/>
                </a:lnTo>
                <a:lnTo>
                  <a:pt x="7219950" y="6762750"/>
                </a:lnTo>
                <a:lnTo>
                  <a:pt x="0" y="6762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" t="0" r="-22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1066800" y="2705100"/>
            <a:ext cx="7296150" cy="1204912"/>
            <a:chOff x="0" y="0"/>
            <a:chExt cx="9728200" cy="160655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609600" cy="609600"/>
              <a:chOff x="0" y="0"/>
              <a:chExt cx="609600" cy="6096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09600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609600">
                    <a:moveTo>
                      <a:pt x="304800" y="0"/>
                    </a:moveTo>
                    <a:lnTo>
                      <a:pt x="304800" y="0"/>
                    </a:lnTo>
                    <a:cubicBezTo>
                      <a:pt x="473136" y="0"/>
                      <a:pt x="609600" y="136464"/>
                      <a:pt x="609600" y="304800"/>
                    </a:cubicBezTo>
                    <a:lnTo>
                      <a:pt x="609600" y="304800"/>
                    </a:lnTo>
                    <a:cubicBezTo>
                      <a:pt x="609600" y="473136"/>
                      <a:pt x="473136" y="609600"/>
                      <a:pt x="304800" y="609600"/>
                    </a:cubicBezTo>
                    <a:lnTo>
                      <a:pt x="304800" y="609600"/>
                    </a:lnTo>
                    <a:cubicBezTo>
                      <a:pt x="136464" y="609600"/>
                      <a:pt x="0" y="473136"/>
                      <a:pt x="0" y="304800"/>
                    </a:cubicBezTo>
                    <a:lnTo>
                      <a:pt x="0" y="304800"/>
                    </a:lnTo>
                    <a:cubicBezTo>
                      <a:pt x="0" y="136464"/>
                      <a:pt x="136464" y="0"/>
                      <a:pt x="304800" y="0"/>
                    </a:cubicBezTo>
                    <a:close/>
                  </a:path>
                </a:pathLst>
              </a:custGeom>
              <a:solidFill>
                <a:srgbClr val="10243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19050"/>
                <a:ext cx="609600" cy="590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62"/>
                  </a:lnSpc>
                </a:pPr>
                <a:r>
                  <a:rPr lang="en-US" sz="1875" b="true">
                    <a:solidFill>
                      <a:srgbClr val="FFFFFF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01</a:t>
                </a: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838200" y="85725"/>
              <a:ext cx="8890000" cy="873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87"/>
                </a:lnSpc>
              </a:pPr>
              <a:r>
                <a:rPr lang="en-US" sz="2250" b="true">
                  <a:solidFill>
                    <a:srgbClr val="10243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Fragmented reporting</a:t>
              </a:r>
            </a:p>
            <a:p>
              <a:pPr algn="l">
                <a:lnSpc>
                  <a:spcPts val="2587"/>
                </a:lnSpc>
              </a:pPr>
              <a:r>
                <a:rPr lang="en-US" sz="2250" b="true">
                  <a:solidFill>
                    <a:srgbClr val="10243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slows timely action</a:t>
              </a:r>
            </a:p>
          </p:txBody>
        </p:sp>
        <p:sp>
          <p:nvSpPr>
            <p:cNvPr name="AutoShape 9" id="9"/>
            <p:cNvSpPr/>
            <p:nvPr/>
          </p:nvSpPr>
          <p:spPr>
            <a:xfrm>
              <a:off x="838200" y="1600200"/>
              <a:ext cx="8534400" cy="0"/>
            </a:xfrm>
            <a:prstGeom prst="line">
              <a:avLst/>
            </a:prstGeom>
            <a:ln cap="flat" w="12700">
              <a:solidFill>
                <a:srgbClr val="DBE3E8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066800" y="4629150"/>
            <a:ext cx="7296150" cy="1204912"/>
            <a:chOff x="0" y="0"/>
            <a:chExt cx="9728200" cy="160655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609600" cy="609600"/>
              <a:chOff x="0" y="0"/>
              <a:chExt cx="609600" cy="6096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609600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609600">
                    <a:moveTo>
                      <a:pt x="304800" y="0"/>
                    </a:moveTo>
                    <a:lnTo>
                      <a:pt x="304800" y="0"/>
                    </a:lnTo>
                    <a:cubicBezTo>
                      <a:pt x="473136" y="0"/>
                      <a:pt x="609600" y="136464"/>
                      <a:pt x="609600" y="304800"/>
                    </a:cubicBezTo>
                    <a:lnTo>
                      <a:pt x="609600" y="304800"/>
                    </a:lnTo>
                    <a:cubicBezTo>
                      <a:pt x="609600" y="473136"/>
                      <a:pt x="473136" y="609600"/>
                      <a:pt x="304800" y="609600"/>
                    </a:cubicBezTo>
                    <a:lnTo>
                      <a:pt x="304800" y="609600"/>
                    </a:lnTo>
                    <a:cubicBezTo>
                      <a:pt x="136464" y="609600"/>
                      <a:pt x="0" y="473136"/>
                      <a:pt x="0" y="304800"/>
                    </a:cubicBezTo>
                    <a:lnTo>
                      <a:pt x="0" y="304800"/>
                    </a:lnTo>
                    <a:cubicBezTo>
                      <a:pt x="0" y="136464"/>
                      <a:pt x="136464" y="0"/>
                      <a:pt x="304800" y="0"/>
                    </a:cubicBezTo>
                    <a:close/>
                  </a:path>
                </a:pathLst>
              </a:custGeom>
              <a:solidFill>
                <a:srgbClr val="10243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19050"/>
                <a:ext cx="609600" cy="590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62"/>
                  </a:lnSpc>
                </a:pPr>
                <a:r>
                  <a:rPr lang="en-US" sz="1875" b="true">
                    <a:solidFill>
                      <a:srgbClr val="FFFFFF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02</a:t>
                </a: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838200" y="85725"/>
              <a:ext cx="8890000" cy="873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87"/>
                </a:lnSpc>
              </a:pPr>
              <a:r>
                <a:rPr lang="en-US" sz="2250" b="true">
                  <a:solidFill>
                    <a:srgbClr val="10243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Citizen reporting barriers:</a:t>
              </a:r>
            </a:p>
            <a:p>
              <a:pPr algn="l">
                <a:lnSpc>
                  <a:spcPts val="2587"/>
                </a:lnSpc>
              </a:pPr>
              <a:r>
                <a:rPr lang="en-US" sz="2250" b="true">
                  <a:solidFill>
                    <a:srgbClr val="10243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app installs, logins</a:t>
              </a:r>
            </a:p>
          </p:txBody>
        </p:sp>
        <p:sp>
          <p:nvSpPr>
            <p:cNvPr name="AutoShape 15" id="15"/>
            <p:cNvSpPr/>
            <p:nvPr/>
          </p:nvSpPr>
          <p:spPr>
            <a:xfrm>
              <a:off x="838200" y="1600200"/>
              <a:ext cx="8534400" cy="0"/>
            </a:xfrm>
            <a:prstGeom prst="line">
              <a:avLst/>
            </a:prstGeom>
            <a:ln cap="flat" w="12700">
              <a:solidFill>
                <a:srgbClr val="DBE3E8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066800" y="6553200"/>
            <a:ext cx="7296150" cy="1204912"/>
            <a:chOff x="0" y="0"/>
            <a:chExt cx="9728200" cy="1606550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609600" cy="609600"/>
              <a:chOff x="0" y="0"/>
              <a:chExt cx="609600" cy="6096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609600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609600">
                    <a:moveTo>
                      <a:pt x="304800" y="0"/>
                    </a:moveTo>
                    <a:lnTo>
                      <a:pt x="304800" y="0"/>
                    </a:lnTo>
                    <a:cubicBezTo>
                      <a:pt x="473136" y="0"/>
                      <a:pt x="609600" y="136464"/>
                      <a:pt x="609600" y="304800"/>
                    </a:cubicBezTo>
                    <a:lnTo>
                      <a:pt x="609600" y="304800"/>
                    </a:lnTo>
                    <a:cubicBezTo>
                      <a:pt x="609600" y="473136"/>
                      <a:pt x="473136" y="609600"/>
                      <a:pt x="304800" y="609600"/>
                    </a:cubicBezTo>
                    <a:lnTo>
                      <a:pt x="304800" y="609600"/>
                    </a:lnTo>
                    <a:cubicBezTo>
                      <a:pt x="136464" y="609600"/>
                      <a:pt x="0" y="473136"/>
                      <a:pt x="0" y="304800"/>
                    </a:cubicBezTo>
                    <a:lnTo>
                      <a:pt x="0" y="304800"/>
                    </a:lnTo>
                    <a:cubicBezTo>
                      <a:pt x="0" y="136464"/>
                      <a:pt x="136464" y="0"/>
                      <a:pt x="304800" y="0"/>
                    </a:cubicBezTo>
                    <a:close/>
                  </a:path>
                </a:pathLst>
              </a:custGeom>
              <a:solidFill>
                <a:srgbClr val="D94B4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19050"/>
                <a:ext cx="609600" cy="590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62"/>
                  </a:lnSpc>
                </a:pPr>
                <a:r>
                  <a:rPr lang="en-US" sz="1875" b="true">
                    <a:solidFill>
                      <a:srgbClr val="FFFFFF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03</a:t>
                </a: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838200" y="85725"/>
              <a:ext cx="8890000" cy="873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87"/>
                </a:lnSpc>
              </a:pPr>
              <a:r>
                <a:rPr lang="en-US" sz="2250" b="true">
                  <a:solidFill>
                    <a:srgbClr val="10243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Duplicate and low-quality alerts</a:t>
              </a:r>
            </a:p>
            <a:p>
              <a:pPr algn="l">
                <a:lnSpc>
                  <a:spcPts val="2587"/>
                </a:lnSpc>
              </a:pPr>
              <a:r>
                <a:rPr lang="en-US" sz="2250" b="true">
                  <a:solidFill>
                    <a:srgbClr val="10243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overwhelm operators</a:t>
              </a:r>
            </a:p>
          </p:txBody>
        </p:sp>
        <p:sp>
          <p:nvSpPr>
            <p:cNvPr name="AutoShape 21" id="21"/>
            <p:cNvSpPr/>
            <p:nvPr/>
          </p:nvSpPr>
          <p:spPr>
            <a:xfrm>
              <a:off x="838200" y="1600200"/>
              <a:ext cx="8534400" cy="0"/>
            </a:xfrm>
            <a:prstGeom prst="line">
              <a:avLst/>
            </a:prstGeom>
            <a:ln cap="flat" w="12700">
              <a:solidFill>
                <a:srgbClr val="DBE3E8"/>
              </a:solidFill>
              <a:prstDash val="solid"/>
              <a:headEnd type="none" len="sm" w="sm"/>
              <a:tailEnd type="none" len="sm" w="sm"/>
            </a:ln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6800" y="733425"/>
            <a:ext cx="1428750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750" b="true">
                <a:solidFill>
                  <a:srgbClr val="10243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ResQAI Simplifies and Accelerates Emergency Response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239250" y="2381250"/>
            <a:ext cx="7981950" cy="6572250"/>
          </a:xfrm>
          <a:custGeom>
            <a:avLst/>
            <a:gdLst/>
            <a:ahLst/>
            <a:cxnLst/>
            <a:rect r="r" b="b" t="t" l="l"/>
            <a:pathLst>
              <a:path h="6572250" w="7981950">
                <a:moveTo>
                  <a:pt x="0" y="0"/>
                </a:moveTo>
                <a:lnTo>
                  <a:pt x="7981950" y="0"/>
                </a:lnTo>
                <a:lnTo>
                  <a:pt x="7981950" y="6572250"/>
                </a:lnTo>
                <a:lnTo>
                  <a:pt x="0" y="6572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4" t="0" r="-54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8858250" y="2381250"/>
            <a:ext cx="76200" cy="6572250"/>
            <a:chOff x="0" y="0"/>
            <a:chExt cx="101600" cy="8763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1600" cy="8763000"/>
            </a:xfrm>
            <a:custGeom>
              <a:avLst/>
              <a:gdLst/>
              <a:ahLst/>
              <a:cxnLst/>
              <a:rect r="r" b="b" t="t" l="l"/>
              <a:pathLst>
                <a:path h="87630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8763000"/>
                  </a:lnTo>
                  <a:lnTo>
                    <a:pt x="0" y="8763000"/>
                  </a:lnTo>
                  <a:close/>
                </a:path>
              </a:pathLst>
            </a:custGeom>
            <a:solidFill>
              <a:srgbClr val="08A6A6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01600" cy="880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66800" y="2867025"/>
            <a:ext cx="6096000" cy="328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7"/>
              </a:lnSpc>
            </a:pPr>
            <a:r>
              <a:rPr lang="en-US" sz="2250" b="true">
                <a:solidFill>
                  <a:srgbClr val="10243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01  Detect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66800" y="3333750"/>
            <a:ext cx="6191250" cy="731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2"/>
              </a:lnSpc>
            </a:pPr>
            <a:r>
              <a:rPr lang="en-US" sz="2100">
                <a:solidFill>
                  <a:srgbClr val="526477"/>
                </a:solidFill>
                <a:latin typeface="DM Sans"/>
                <a:ea typeface="DM Sans"/>
                <a:cs typeface="DM Sans"/>
                <a:sym typeface="DM Sans"/>
              </a:rPr>
              <a:t>AI-assisted incident detection from incoming reports.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66800" y="4962525"/>
            <a:ext cx="6096000" cy="328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7"/>
              </a:lnSpc>
            </a:pPr>
            <a:r>
              <a:rPr lang="en-US" sz="2250" b="true">
                <a:solidFill>
                  <a:srgbClr val="10243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02  Report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6800" y="5429250"/>
            <a:ext cx="6191250" cy="360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2"/>
              </a:lnSpc>
            </a:pPr>
            <a:r>
              <a:rPr lang="en-US" sz="2100">
                <a:solidFill>
                  <a:srgbClr val="526477"/>
                </a:solidFill>
                <a:latin typeface="DM Sans"/>
                <a:ea typeface="DM Sans"/>
                <a:cs typeface="DM Sans"/>
                <a:sym typeface="DM Sans"/>
              </a:rPr>
              <a:t>No account or app required for citizen reporting.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66800" y="7058025"/>
            <a:ext cx="6096000" cy="328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7"/>
              </a:lnSpc>
            </a:pPr>
            <a:r>
              <a:rPr lang="en-US" sz="2250" b="true">
                <a:solidFill>
                  <a:srgbClr val="10243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03  Coordinate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66800" y="7524750"/>
            <a:ext cx="6191250" cy="731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2"/>
              </a:lnSpc>
            </a:pPr>
            <a:r>
              <a:rPr lang="en-US" sz="2100">
                <a:solidFill>
                  <a:srgbClr val="526477"/>
                </a:solidFill>
                <a:latin typeface="DM Sans"/>
                <a:ea typeface="DM Sans"/>
                <a:cs typeface="DM Sans"/>
                <a:sym typeface="DM Sans"/>
              </a:rPr>
              <a:t>Resource suggestions remain under operator oversight.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6800" y="742950"/>
            <a:ext cx="14287500" cy="557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 b="true">
                <a:solidFill>
                  <a:srgbClr val="10243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Report Emergencies Instantly — No Login, No Install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620250" y="1809750"/>
            <a:ext cx="7048500" cy="7810500"/>
            <a:chOff x="0" y="0"/>
            <a:chExt cx="9398000" cy="10414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398000" cy="10414000"/>
            </a:xfrm>
            <a:custGeom>
              <a:avLst/>
              <a:gdLst/>
              <a:ahLst/>
              <a:cxnLst/>
              <a:rect r="r" b="b" t="t" l="l"/>
              <a:pathLst>
                <a:path h="10414000" w="9398000">
                  <a:moveTo>
                    <a:pt x="0" y="0"/>
                  </a:moveTo>
                  <a:lnTo>
                    <a:pt x="9398000" y="0"/>
                  </a:lnTo>
                  <a:lnTo>
                    <a:pt x="9398000" y="10414000"/>
                  </a:lnTo>
                  <a:lnTo>
                    <a:pt x="0" y="10414000"/>
                  </a:lnTo>
                  <a:close/>
                </a:path>
              </a:pathLst>
            </a:custGeom>
            <a:solidFill>
              <a:srgbClr val="F3F6F8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9398000" cy="1045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572750" y="2095500"/>
            <a:ext cx="5143500" cy="7239000"/>
          </a:xfrm>
          <a:custGeom>
            <a:avLst/>
            <a:gdLst/>
            <a:ahLst/>
            <a:cxnLst/>
            <a:rect r="r" b="b" t="t" l="l"/>
            <a:pathLst>
              <a:path h="7239000" w="5143500">
                <a:moveTo>
                  <a:pt x="0" y="0"/>
                </a:moveTo>
                <a:lnTo>
                  <a:pt x="5143500" y="0"/>
                </a:lnTo>
                <a:lnTo>
                  <a:pt x="5143500" y="7239000"/>
                </a:lnTo>
                <a:lnTo>
                  <a:pt x="0" y="7239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7" r="0" b="-37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7" id="7"/>
          <p:cNvSpPr/>
          <p:nvPr/>
        </p:nvSpPr>
        <p:spPr>
          <a:xfrm>
            <a:off x="8763000" y="2381250"/>
            <a:ext cx="0" cy="6381750"/>
          </a:xfrm>
          <a:prstGeom prst="line">
            <a:avLst/>
          </a:prstGeom>
          <a:ln cap="flat" w="9525">
            <a:solidFill>
              <a:srgbClr val="DBE3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066800" y="2428875"/>
            <a:ext cx="7239000" cy="731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2"/>
              </a:lnSpc>
            </a:pPr>
            <a:r>
              <a:rPr lang="en-US" sz="2100">
                <a:solidFill>
                  <a:srgbClr val="526477"/>
                </a:solidFill>
                <a:latin typeface="DM Sans"/>
                <a:ea typeface="DM Sans"/>
                <a:cs typeface="DM Sans"/>
                <a:sym typeface="DM Sans"/>
              </a:rPr>
              <a:t>Designed to remove friction at the moment it matters most.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66800" y="4476750"/>
            <a:ext cx="285750" cy="285750"/>
            <a:chOff x="0" y="0"/>
            <a:chExt cx="381000" cy="381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190500" y="0"/>
                  </a:moveTo>
                  <a:cubicBezTo>
                    <a:pt x="295710" y="0"/>
                    <a:pt x="381000" y="85290"/>
                    <a:pt x="381000" y="190500"/>
                  </a:cubicBezTo>
                  <a:cubicBezTo>
                    <a:pt x="381000" y="295710"/>
                    <a:pt x="295710" y="381000"/>
                    <a:pt x="190500" y="381000"/>
                  </a:cubicBezTo>
                  <a:cubicBezTo>
                    <a:pt x="85290" y="381000"/>
                    <a:pt x="0" y="295710"/>
                    <a:pt x="0" y="190500"/>
                  </a:cubicBez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rgbClr val="08A6A6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81000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619250" y="4581525"/>
            <a:ext cx="6191250" cy="328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7"/>
              </a:lnSpc>
            </a:pPr>
            <a:r>
              <a:rPr lang="en-US" sz="2250" b="true">
                <a:solidFill>
                  <a:srgbClr val="10243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Web link or SMS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66800" y="5857875"/>
            <a:ext cx="285750" cy="285750"/>
            <a:chOff x="0" y="0"/>
            <a:chExt cx="381000" cy="381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190500" y="0"/>
                  </a:moveTo>
                  <a:cubicBezTo>
                    <a:pt x="295710" y="0"/>
                    <a:pt x="381000" y="85290"/>
                    <a:pt x="381000" y="190500"/>
                  </a:cubicBezTo>
                  <a:cubicBezTo>
                    <a:pt x="381000" y="295710"/>
                    <a:pt x="295710" y="381000"/>
                    <a:pt x="190500" y="381000"/>
                  </a:cubicBezTo>
                  <a:cubicBezTo>
                    <a:pt x="85290" y="381000"/>
                    <a:pt x="0" y="295710"/>
                    <a:pt x="0" y="190500"/>
                  </a:cubicBez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rgbClr val="08A6A6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381000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619250" y="5962650"/>
            <a:ext cx="6191250" cy="328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7"/>
              </a:lnSpc>
            </a:pPr>
            <a:r>
              <a:rPr lang="en-US" sz="2250" b="true">
                <a:solidFill>
                  <a:srgbClr val="10243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Guided, simple prompts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66800" y="7239000"/>
            <a:ext cx="285750" cy="285750"/>
            <a:chOff x="0" y="0"/>
            <a:chExt cx="381000" cy="381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190500" y="0"/>
                  </a:moveTo>
                  <a:cubicBezTo>
                    <a:pt x="295710" y="0"/>
                    <a:pt x="381000" y="85290"/>
                    <a:pt x="381000" y="190500"/>
                  </a:cubicBezTo>
                  <a:cubicBezTo>
                    <a:pt x="381000" y="295710"/>
                    <a:pt x="295710" y="381000"/>
                    <a:pt x="190500" y="381000"/>
                  </a:cubicBezTo>
                  <a:cubicBezTo>
                    <a:pt x="85290" y="381000"/>
                    <a:pt x="0" y="295710"/>
                    <a:pt x="0" y="190500"/>
                  </a:cubicBez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rgbClr val="08A6A6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381000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619250" y="7343775"/>
            <a:ext cx="6667500" cy="328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7"/>
              </a:lnSpc>
            </a:pPr>
            <a:r>
              <a:rPr lang="en-US" sz="2250" b="true">
                <a:solidFill>
                  <a:srgbClr val="10243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Location tagging + photo upload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6800" y="742950"/>
            <a:ext cx="14287500" cy="610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79"/>
              </a:lnSpc>
            </a:pPr>
            <a:r>
              <a:rPr lang="en-US" sz="4425" b="true">
                <a:solidFill>
                  <a:srgbClr val="10243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AI Pipeline Powers Accurate Incident Detection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333500" y="2714625"/>
            <a:ext cx="4857750" cy="4238625"/>
            <a:chOff x="0" y="0"/>
            <a:chExt cx="6477000" cy="56515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571500"/>
              <a:ext cx="6477000" cy="3810000"/>
              <a:chOff x="0" y="0"/>
              <a:chExt cx="6477000" cy="3810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6477000" cy="3810000"/>
              </a:xfrm>
              <a:custGeom>
                <a:avLst/>
                <a:gdLst/>
                <a:ahLst/>
                <a:cxnLst/>
                <a:rect r="r" b="b" t="t" l="l"/>
                <a:pathLst>
                  <a:path h="3810000" w="6477000">
                    <a:moveTo>
                      <a:pt x="44824" y="0"/>
                    </a:moveTo>
                    <a:lnTo>
                      <a:pt x="6432176" y="0"/>
                    </a:lnTo>
                    <a:cubicBezTo>
                      <a:pt x="6444064" y="0"/>
                      <a:pt x="6455465" y="4722"/>
                      <a:pt x="6463871" y="13129"/>
                    </a:cubicBezTo>
                    <a:cubicBezTo>
                      <a:pt x="6472277" y="21535"/>
                      <a:pt x="6477000" y="32936"/>
                      <a:pt x="6477000" y="44824"/>
                    </a:cubicBezTo>
                    <a:lnTo>
                      <a:pt x="6477000" y="3765176"/>
                    </a:lnTo>
                    <a:cubicBezTo>
                      <a:pt x="6477000" y="3777064"/>
                      <a:pt x="6472277" y="3788465"/>
                      <a:pt x="6463871" y="3796871"/>
                    </a:cubicBezTo>
                    <a:cubicBezTo>
                      <a:pt x="6455465" y="3805277"/>
                      <a:pt x="6444064" y="3810000"/>
                      <a:pt x="6432176" y="3810000"/>
                    </a:cubicBezTo>
                    <a:lnTo>
                      <a:pt x="44824" y="3810000"/>
                    </a:lnTo>
                    <a:cubicBezTo>
                      <a:pt x="32936" y="3810000"/>
                      <a:pt x="21535" y="3805277"/>
                      <a:pt x="13129" y="3796871"/>
                    </a:cubicBezTo>
                    <a:cubicBezTo>
                      <a:pt x="4722" y="3788465"/>
                      <a:pt x="0" y="3777064"/>
                      <a:pt x="0" y="3765176"/>
                    </a:cubicBezTo>
                    <a:lnTo>
                      <a:pt x="0" y="44824"/>
                    </a:lnTo>
                    <a:cubicBezTo>
                      <a:pt x="0" y="32936"/>
                      <a:pt x="4722" y="21535"/>
                      <a:pt x="13129" y="13129"/>
                    </a:cubicBezTo>
                    <a:cubicBezTo>
                      <a:pt x="21535" y="4722"/>
                      <a:pt x="32936" y="0"/>
                      <a:pt x="44824" y="0"/>
                    </a:cubicBezTo>
                    <a:close/>
                  </a:path>
                </a:pathLst>
              </a:custGeom>
              <a:solidFill>
                <a:srgbClr val="F3F6F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19050"/>
                <a:ext cx="6477000" cy="37909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62"/>
                  </a:lnSpc>
                </a:pPr>
                <a:r>
                  <a:rPr lang="en-US" sz="1875" b="true">
                    <a:solidFill>
                      <a:srgbClr val="10243E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CLASSIFICATION</a:t>
                </a:r>
              </a:p>
              <a:p>
                <a:pPr algn="ctr">
                  <a:lnSpc>
                    <a:spcPts val="2062"/>
                  </a:lnSpc>
                </a:pPr>
                <a:r>
                  <a:rPr lang="en-US" sz="1875" b="true">
                    <a:solidFill>
                      <a:srgbClr val="10243E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Report type</a:t>
                </a: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2603500" y="0"/>
              <a:ext cx="1168400" cy="1168400"/>
              <a:chOff x="0" y="0"/>
              <a:chExt cx="1168400" cy="11684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168400" cy="1168400"/>
              </a:xfrm>
              <a:custGeom>
                <a:avLst/>
                <a:gdLst/>
                <a:ahLst/>
                <a:cxnLst/>
                <a:rect r="r" b="b" t="t" l="l"/>
                <a:pathLst>
                  <a:path h="1168400" w="1168400">
                    <a:moveTo>
                      <a:pt x="248478" y="0"/>
                    </a:moveTo>
                    <a:lnTo>
                      <a:pt x="919922" y="0"/>
                    </a:lnTo>
                    <a:cubicBezTo>
                      <a:pt x="985822" y="0"/>
                      <a:pt x="1049024" y="26179"/>
                      <a:pt x="1095622" y="72778"/>
                    </a:cubicBezTo>
                    <a:cubicBezTo>
                      <a:pt x="1142221" y="119376"/>
                      <a:pt x="1168400" y="182578"/>
                      <a:pt x="1168400" y="248478"/>
                    </a:cubicBezTo>
                    <a:lnTo>
                      <a:pt x="1168400" y="919922"/>
                    </a:lnTo>
                    <a:cubicBezTo>
                      <a:pt x="1168400" y="985822"/>
                      <a:pt x="1142221" y="1049024"/>
                      <a:pt x="1095622" y="1095622"/>
                    </a:cubicBezTo>
                    <a:cubicBezTo>
                      <a:pt x="1049024" y="1142221"/>
                      <a:pt x="985822" y="1168400"/>
                      <a:pt x="919922" y="1168400"/>
                    </a:cubicBezTo>
                    <a:lnTo>
                      <a:pt x="248478" y="1168400"/>
                    </a:lnTo>
                    <a:cubicBezTo>
                      <a:pt x="182578" y="1168400"/>
                      <a:pt x="119376" y="1142221"/>
                      <a:pt x="72778" y="1095622"/>
                    </a:cubicBezTo>
                    <a:cubicBezTo>
                      <a:pt x="26179" y="1049024"/>
                      <a:pt x="0" y="985822"/>
                      <a:pt x="0" y="919922"/>
                    </a:cubicBezTo>
                    <a:lnTo>
                      <a:pt x="0" y="248478"/>
                    </a:lnTo>
                    <a:cubicBezTo>
                      <a:pt x="0" y="182578"/>
                      <a:pt x="26179" y="119376"/>
                      <a:pt x="72778" y="72778"/>
                    </a:cubicBezTo>
                    <a:cubicBezTo>
                      <a:pt x="119376" y="26179"/>
                      <a:pt x="182578" y="0"/>
                      <a:pt x="248478" y="0"/>
                    </a:cubicBezTo>
                    <a:close/>
                  </a:path>
                </a:pathLst>
              </a:custGeom>
              <a:solidFill>
                <a:srgbClr val="08A6A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19050"/>
                <a:ext cx="1168400" cy="11493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62"/>
                  </a:lnSpc>
                </a:pPr>
                <a:r>
                  <a:rPr lang="en-US" sz="1875" b="true">
                    <a:solidFill>
                      <a:srgbClr val="FFFFFF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01</a:t>
                </a: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571500" y="5232400"/>
              <a:ext cx="5334000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25"/>
                </a:lnSpc>
              </a:pPr>
              <a:r>
                <a:rPr lang="en-US" sz="1875">
                  <a:solidFill>
                    <a:srgbClr val="526477"/>
                  </a:solidFill>
                  <a:latin typeface="DM Sans"/>
                  <a:ea typeface="DM Sans"/>
                  <a:cs typeface="DM Sans"/>
                  <a:sym typeface="DM Sans"/>
                </a:rPr>
                <a:t>Fire · accident · medical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>
            <a:off x="6238875" y="4572000"/>
            <a:ext cx="381000" cy="0"/>
          </a:xfrm>
          <a:prstGeom prst="line">
            <a:avLst/>
          </a:prstGeom>
          <a:ln cap="rnd" w="57150">
            <a:solidFill>
              <a:srgbClr val="38C7D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6762750" y="2714625"/>
            <a:ext cx="4857750" cy="4238625"/>
            <a:chOff x="0" y="0"/>
            <a:chExt cx="6477000" cy="565150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571500"/>
              <a:ext cx="6477000" cy="3810000"/>
              <a:chOff x="0" y="0"/>
              <a:chExt cx="6477000" cy="38100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6477000" cy="3810000"/>
              </a:xfrm>
              <a:custGeom>
                <a:avLst/>
                <a:gdLst/>
                <a:ahLst/>
                <a:cxnLst/>
                <a:rect r="r" b="b" t="t" l="l"/>
                <a:pathLst>
                  <a:path h="3810000" w="6477000">
                    <a:moveTo>
                      <a:pt x="44824" y="0"/>
                    </a:moveTo>
                    <a:lnTo>
                      <a:pt x="6432176" y="0"/>
                    </a:lnTo>
                    <a:cubicBezTo>
                      <a:pt x="6444064" y="0"/>
                      <a:pt x="6455465" y="4722"/>
                      <a:pt x="6463871" y="13129"/>
                    </a:cubicBezTo>
                    <a:cubicBezTo>
                      <a:pt x="6472277" y="21535"/>
                      <a:pt x="6477000" y="32936"/>
                      <a:pt x="6477000" y="44824"/>
                    </a:cubicBezTo>
                    <a:lnTo>
                      <a:pt x="6477000" y="3765176"/>
                    </a:lnTo>
                    <a:cubicBezTo>
                      <a:pt x="6477000" y="3777064"/>
                      <a:pt x="6472277" y="3788465"/>
                      <a:pt x="6463871" y="3796871"/>
                    </a:cubicBezTo>
                    <a:cubicBezTo>
                      <a:pt x="6455465" y="3805277"/>
                      <a:pt x="6444064" y="3810000"/>
                      <a:pt x="6432176" y="3810000"/>
                    </a:cubicBezTo>
                    <a:lnTo>
                      <a:pt x="44824" y="3810000"/>
                    </a:lnTo>
                    <a:cubicBezTo>
                      <a:pt x="32936" y="3810000"/>
                      <a:pt x="21535" y="3805277"/>
                      <a:pt x="13129" y="3796871"/>
                    </a:cubicBezTo>
                    <a:cubicBezTo>
                      <a:pt x="4722" y="3788465"/>
                      <a:pt x="0" y="3777064"/>
                      <a:pt x="0" y="3765176"/>
                    </a:cubicBezTo>
                    <a:lnTo>
                      <a:pt x="0" y="44824"/>
                    </a:lnTo>
                    <a:cubicBezTo>
                      <a:pt x="0" y="32936"/>
                      <a:pt x="4722" y="21535"/>
                      <a:pt x="13129" y="13129"/>
                    </a:cubicBezTo>
                    <a:cubicBezTo>
                      <a:pt x="21535" y="4722"/>
                      <a:pt x="32936" y="0"/>
                      <a:pt x="44824" y="0"/>
                    </a:cubicBezTo>
                    <a:close/>
                  </a:path>
                </a:pathLst>
              </a:custGeom>
              <a:solidFill>
                <a:srgbClr val="FFF1F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19050"/>
                <a:ext cx="6477000" cy="37909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62"/>
                  </a:lnSpc>
                </a:pPr>
                <a:r>
                  <a:rPr lang="en-US" sz="1875" b="true">
                    <a:solidFill>
                      <a:srgbClr val="D94B4B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SEVERITY</a:t>
                </a:r>
              </a:p>
              <a:p>
                <a:pPr algn="ctr">
                  <a:lnSpc>
                    <a:spcPts val="2062"/>
                  </a:lnSpc>
                </a:pPr>
                <a:r>
                  <a:rPr lang="en-US" sz="1875" b="true">
                    <a:solidFill>
                      <a:srgbClr val="D94B4B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Urgency signals</a:t>
                </a: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2603500" y="0"/>
              <a:ext cx="1168400" cy="1168400"/>
              <a:chOff x="0" y="0"/>
              <a:chExt cx="1168400" cy="11684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168400" cy="1168400"/>
              </a:xfrm>
              <a:custGeom>
                <a:avLst/>
                <a:gdLst/>
                <a:ahLst/>
                <a:cxnLst/>
                <a:rect r="r" b="b" t="t" l="l"/>
                <a:pathLst>
                  <a:path h="1168400" w="1168400">
                    <a:moveTo>
                      <a:pt x="248478" y="0"/>
                    </a:moveTo>
                    <a:lnTo>
                      <a:pt x="919922" y="0"/>
                    </a:lnTo>
                    <a:cubicBezTo>
                      <a:pt x="985822" y="0"/>
                      <a:pt x="1049024" y="26179"/>
                      <a:pt x="1095622" y="72778"/>
                    </a:cubicBezTo>
                    <a:cubicBezTo>
                      <a:pt x="1142221" y="119376"/>
                      <a:pt x="1168400" y="182578"/>
                      <a:pt x="1168400" y="248478"/>
                    </a:cubicBezTo>
                    <a:lnTo>
                      <a:pt x="1168400" y="919922"/>
                    </a:lnTo>
                    <a:cubicBezTo>
                      <a:pt x="1168400" y="985822"/>
                      <a:pt x="1142221" y="1049024"/>
                      <a:pt x="1095622" y="1095622"/>
                    </a:cubicBezTo>
                    <a:cubicBezTo>
                      <a:pt x="1049024" y="1142221"/>
                      <a:pt x="985822" y="1168400"/>
                      <a:pt x="919922" y="1168400"/>
                    </a:cubicBezTo>
                    <a:lnTo>
                      <a:pt x="248478" y="1168400"/>
                    </a:lnTo>
                    <a:cubicBezTo>
                      <a:pt x="182578" y="1168400"/>
                      <a:pt x="119376" y="1142221"/>
                      <a:pt x="72778" y="1095622"/>
                    </a:cubicBezTo>
                    <a:cubicBezTo>
                      <a:pt x="26179" y="1049024"/>
                      <a:pt x="0" y="985822"/>
                      <a:pt x="0" y="919922"/>
                    </a:cubicBezTo>
                    <a:lnTo>
                      <a:pt x="0" y="248478"/>
                    </a:lnTo>
                    <a:cubicBezTo>
                      <a:pt x="0" y="182578"/>
                      <a:pt x="26179" y="119376"/>
                      <a:pt x="72778" y="72778"/>
                    </a:cubicBezTo>
                    <a:cubicBezTo>
                      <a:pt x="119376" y="26179"/>
                      <a:pt x="182578" y="0"/>
                      <a:pt x="248478" y="0"/>
                    </a:cubicBezTo>
                    <a:close/>
                  </a:path>
                </a:pathLst>
              </a:custGeom>
              <a:solidFill>
                <a:srgbClr val="D94B4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19050"/>
                <a:ext cx="1168400" cy="11493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62"/>
                  </a:lnSpc>
                </a:pPr>
                <a:r>
                  <a:rPr lang="en-US" sz="1875" b="true">
                    <a:solidFill>
                      <a:srgbClr val="FFFFFF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02</a:t>
                </a: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571500" y="5232400"/>
              <a:ext cx="5334000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25"/>
                </a:lnSpc>
              </a:pPr>
              <a:r>
                <a:rPr lang="en-US" sz="1875">
                  <a:solidFill>
                    <a:srgbClr val="526477"/>
                  </a:solidFill>
                  <a:latin typeface="DM Sans"/>
                  <a:ea typeface="DM Sans"/>
                  <a:cs typeface="DM Sans"/>
                  <a:sym typeface="DM Sans"/>
                </a:rPr>
                <a:t>Priority cues for review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>
            <a:off x="11668125" y="4572000"/>
            <a:ext cx="381000" cy="0"/>
          </a:xfrm>
          <a:prstGeom prst="line">
            <a:avLst/>
          </a:prstGeom>
          <a:ln cap="rnd" w="57150">
            <a:solidFill>
              <a:srgbClr val="38C7D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12192000" y="2714625"/>
            <a:ext cx="4857750" cy="4238625"/>
            <a:chOff x="0" y="0"/>
            <a:chExt cx="6477000" cy="5651500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571500"/>
              <a:ext cx="6477000" cy="3810000"/>
              <a:chOff x="0" y="0"/>
              <a:chExt cx="6477000" cy="38100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6477000" cy="3810000"/>
              </a:xfrm>
              <a:custGeom>
                <a:avLst/>
                <a:gdLst/>
                <a:ahLst/>
                <a:cxnLst/>
                <a:rect r="r" b="b" t="t" l="l"/>
                <a:pathLst>
                  <a:path h="3810000" w="6477000">
                    <a:moveTo>
                      <a:pt x="44824" y="0"/>
                    </a:moveTo>
                    <a:lnTo>
                      <a:pt x="6432176" y="0"/>
                    </a:lnTo>
                    <a:cubicBezTo>
                      <a:pt x="6444064" y="0"/>
                      <a:pt x="6455465" y="4722"/>
                      <a:pt x="6463871" y="13129"/>
                    </a:cubicBezTo>
                    <a:cubicBezTo>
                      <a:pt x="6472277" y="21535"/>
                      <a:pt x="6477000" y="32936"/>
                      <a:pt x="6477000" y="44824"/>
                    </a:cubicBezTo>
                    <a:lnTo>
                      <a:pt x="6477000" y="3765176"/>
                    </a:lnTo>
                    <a:cubicBezTo>
                      <a:pt x="6477000" y="3777064"/>
                      <a:pt x="6472277" y="3788465"/>
                      <a:pt x="6463871" y="3796871"/>
                    </a:cubicBezTo>
                    <a:cubicBezTo>
                      <a:pt x="6455465" y="3805277"/>
                      <a:pt x="6444064" y="3810000"/>
                      <a:pt x="6432176" y="3810000"/>
                    </a:cubicBezTo>
                    <a:lnTo>
                      <a:pt x="44824" y="3810000"/>
                    </a:lnTo>
                    <a:cubicBezTo>
                      <a:pt x="32936" y="3810000"/>
                      <a:pt x="21535" y="3805277"/>
                      <a:pt x="13129" y="3796871"/>
                    </a:cubicBezTo>
                    <a:cubicBezTo>
                      <a:pt x="4722" y="3788465"/>
                      <a:pt x="0" y="3777064"/>
                      <a:pt x="0" y="3765176"/>
                    </a:cubicBezTo>
                    <a:lnTo>
                      <a:pt x="0" y="44824"/>
                    </a:lnTo>
                    <a:cubicBezTo>
                      <a:pt x="0" y="32936"/>
                      <a:pt x="4722" y="21535"/>
                      <a:pt x="13129" y="13129"/>
                    </a:cubicBezTo>
                    <a:cubicBezTo>
                      <a:pt x="21535" y="4722"/>
                      <a:pt x="32936" y="0"/>
                      <a:pt x="44824" y="0"/>
                    </a:cubicBezTo>
                    <a:close/>
                  </a:path>
                </a:pathLst>
              </a:custGeom>
              <a:solidFill>
                <a:srgbClr val="F3F6F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19050"/>
                <a:ext cx="6477000" cy="37909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62"/>
                  </a:lnSpc>
                </a:pPr>
                <a:r>
                  <a:rPr lang="en-US" sz="1875" b="true">
                    <a:solidFill>
                      <a:srgbClr val="10243E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DUPLICATE DETECTION</a:t>
                </a:r>
              </a:p>
              <a:p>
                <a:pPr algn="ctr">
                  <a:lnSpc>
                    <a:spcPts val="2062"/>
                  </a:lnSpc>
                </a:pPr>
                <a:r>
                  <a:rPr lang="en-US" sz="1875" b="true">
                    <a:solidFill>
                      <a:srgbClr val="10243E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Similar reports</a:t>
                </a: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2603500" y="0"/>
              <a:ext cx="1168400" cy="1168400"/>
              <a:chOff x="0" y="0"/>
              <a:chExt cx="1168400" cy="11684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168400" cy="1168400"/>
              </a:xfrm>
              <a:custGeom>
                <a:avLst/>
                <a:gdLst/>
                <a:ahLst/>
                <a:cxnLst/>
                <a:rect r="r" b="b" t="t" l="l"/>
                <a:pathLst>
                  <a:path h="1168400" w="1168400">
                    <a:moveTo>
                      <a:pt x="248478" y="0"/>
                    </a:moveTo>
                    <a:lnTo>
                      <a:pt x="919922" y="0"/>
                    </a:lnTo>
                    <a:cubicBezTo>
                      <a:pt x="985822" y="0"/>
                      <a:pt x="1049024" y="26179"/>
                      <a:pt x="1095622" y="72778"/>
                    </a:cubicBezTo>
                    <a:cubicBezTo>
                      <a:pt x="1142221" y="119376"/>
                      <a:pt x="1168400" y="182578"/>
                      <a:pt x="1168400" y="248478"/>
                    </a:cubicBezTo>
                    <a:lnTo>
                      <a:pt x="1168400" y="919922"/>
                    </a:lnTo>
                    <a:cubicBezTo>
                      <a:pt x="1168400" y="985822"/>
                      <a:pt x="1142221" y="1049024"/>
                      <a:pt x="1095622" y="1095622"/>
                    </a:cubicBezTo>
                    <a:cubicBezTo>
                      <a:pt x="1049024" y="1142221"/>
                      <a:pt x="985822" y="1168400"/>
                      <a:pt x="919922" y="1168400"/>
                    </a:cubicBezTo>
                    <a:lnTo>
                      <a:pt x="248478" y="1168400"/>
                    </a:lnTo>
                    <a:cubicBezTo>
                      <a:pt x="182578" y="1168400"/>
                      <a:pt x="119376" y="1142221"/>
                      <a:pt x="72778" y="1095622"/>
                    </a:cubicBezTo>
                    <a:cubicBezTo>
                      <a:pt x="26179" y="1049024"/>
                      <a:pt x="0" y="985822"/>
                      <a:pt x="0" y="919922"/>
                    </a:cubicBezTo>
                    <a:lnTo>
                      <a:pt x="0" y="248478"/>
                    </a:lnTo>
                    <a:cubicBezTo>
                      <a:pt x="0" y="182578"/>
                      <a:pt x="26179" y="119376"/>
                      <a:pt x="72778" y="72778"/>
                    </a:cubicBezTo>
                    <a:cubicBezTo>
                      <a:pt x="119376" y="26179"/>
                      <a:pt x="182578" y="0"/>
                      <a:pt x="248478" y="0"/>
                    </a:cubicBezTo>
                    <a:close/>
                  </a:path>
                </a:pathLst>
              </a:custGeom>
              <a:solidFill>
                <a:srgbClr val="08A6A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19050"/>
                <a:ext cx="1168400" cy="11493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62"/>
                  </a:lnSpc>
                </a:pPr>
                <a:r>
                  <a:rPr lang="en-US" sz="1875" b="true">
                    <a:solidFill>
                      <a:srgbClr val="FFFFFF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03</a:t>
                </a: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571500" y="5232400"/>
              <a:ext cx="5334000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25"/>
                </a:lnSpc>
              </a:pPr>
              <a:r>
                <a:rPr lang="en-US" sz="1875">
                  <a:solidFill>
                    <a:srgbClr val="526477"/>
                  </a:solidFill>
                  <a:latin typeface="DM Sans"/>
                  <a:ea typeface="DM Sans"/>
                  <a:cs typeface="DM Sans"/>
                  <a:sym typeface="DM Sans"/>
                </a:rPr>
                <a:t>Clusters reduce noise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4762500" y="8534400"/>
            <a:ext cx="87630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i="true">
                <a:solidFill>
                  <a:srgbClr val="526477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Illustrative AI workflow — operator review remains essential.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6800" y="723900"/>
            <a:ext cx="14287500" cy="459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4"/>
              </a:lnSpc>
            </a:pPr>
            <a:r>
              <a:rPr lang="en-US" sz="3300" b="true">
                <a:solidFill>
                  <a:srgbClr val="10243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One Incident, Multiple Reports — Clearer Situational Awareness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066800" y="2095500"/>
            <a:ext cx="11049000" cy="6953250"/>
          </a:xfrm>
          <a:custGeom>
            <a:avLst/>
            <a:gdLst/>
            <a:ahLst/>
            <a:cxnLst/>
            <a:rect r="r" b="b" t="t" l="l"/>
            <a:pathLst>
              <a:path h="6953250" w="11049000">
                <a:moveTo>
                  <a:pt x="0" y="0"/>
                </a:moveTo>
                <a:lnTo>
                  <a:pt x="11049000" y="0"/>
                </a:lnTo>
                <a:lnTo>
                  <a:pt x="11049000" y="6953250"/>
                </a:lnTo>
                <a:lnTo>
                  <a:pt x="0" y="695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4" t="0" r="-44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12668250" y="2381250"/>
            <a:ext cx="4552950" cy="6286500"/>
            <a:chOff x="0" y="0"/>
            <a:chExt cx="6070600" cy="8382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70600" cy="8382000"/>
            </a:xfrm>
            <a:custGeom>
              <a:avLst/>
              <a:gdLst/>
              <a:ahLst/>
              <a:cxnLst/>
              <a:rect r="r" b="b" t="t" l="l"/>
              <a:pathLst>
                <a:path h="8382000" w="6070600">
                  <a:moveTo>
                    <a:pt x="0" y="0"/>
                  </a:moveTo>
                  <a:lnTo>
                    <a:pt x="6070600" y="0"/>
                  </a:lnTo>
                  <a:lnTo>
                    <a:pt x="6070600" y="8382000"/>
                  </a:lnTo>
                  <a:lnTo>
                    <a:pt x="0" y="8382000"/>
                  </a:lnTo>
                  <a:close/>
                </a:path>
              </a:pathLst>
            </a:custGeom>
            <a:solidFill>
              <a:srgbClr val="F3F6F8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6070600" cy="842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3049250" y="2638425"/>
            <a:ext cx="342900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08A6A6"/>
                </a:solidFill>
                <a:latin typeface="DM Sans Bold"/>
                <a:ea typeface="DM Sans Bold"/>
                <a:cs typeface="DM Sans Bold"/>
                <a:sym typeface="DM Sans Bold"/>
              </a:rPr>
              <a:t>ILLUSTRATIVE EXAMPLE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049250" y="3400425"/>
            <a:ext cx="3810000" cy="1320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 b="true">
                <a:solidFill>
                  <a:srgbClr val="10243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5 reports</a:t>
            </a:r>
          </a:p>
          <a:p>
            <a:pPr algn="l">
              <a:lnSpc>
                <a:spcPts val="5184"/>
              </a:lnSpc>
            </a:pPr>
            <a:r>
              <a:rPr lang="en-US" sz="4800" b="true">
                <a:solidFill>
                  <a:srgbClr val="10243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→ 1 incident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049250" y="5286375"/>
            <a:ext cx="3714750" cy="1846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2"/>
              </a:lnSpc>
            </a:pPr>
            <a:r>
              <a:rPr lang="en-US" sz="2100">
                <a:solidFill>
                  <a:srgbClr val="526477"/>
                </a:solidFill>
                <a:latin typeface="DM Sans"/>
                <a:ea typeface="DM Sans"/>
                <a:cs typeface="DM Sans"/>
                <a:sym typeface="DM Sans"/>
              </a:rPr>
              <a:t>Nearby, similar reports can be grouped into one operator-ready incident view—reducing noise while preserving source evidence.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049250" y="7924800"/>
            <a:ext cx="333375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D94B4B"/>
                </a:solidFill>
                <a:latin typeface="DM Sans Bold"/>
                <a:ea typeface="DM Sans Bold"/>
                <a:cs typeface="DM Sans Bold"/>
                <a:sym typeface="DM Sans Bold"/>
              </a:rPr>
              <a:t>Demo visualization only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6800" y="733425"/>
            <a:ext cx="14287500" cy="503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9"/>
              </a:lnSpc>
            </a:pPr>
            <a:r>
              <a:rPr lang="en-US" sz="3675" b="true">
                <a:solidFill>
                  <a:srgbClr val="10243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Command Center: Secure, Intuitive Incident Management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066800" y="2047875"/>
            <a:ext cx="16154400" cy="5810250"/>
          </a:xfrm>
          <a:custGeom>
            <a:avLst/>
            <a:gdLst/>
            <a:ahLst/>
            <a:cxnLst/>
            <a:rect r="r" b="b" t="t" l="l"/>
            <a:pathLst>
              <a:path h="5810250" w="16154400">
                <a:moveTo>
                  <a:pt x="0" y="0"/>
                </a:moveTo>
                <a:lnTo>
                  <a:pt x="16154400" y="0"/>
                </a:lnTo>
                <a:lnTo>
                  <a:pt x="16154400" y="5810250"/>
                </a:lnTo>
                <a:lnTo>
                  <a:pt x="0" y="5810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8" t="0" r="-128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1066800" y="8191500"/>
            <a:ext cx="4762500" cy="576262"/>
            <a:chOff x="0" y="0"/>
            <a:chExt cx="6350000" cy="76835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6350000" cy="63500"/>
              <a:chOff x="0" y="0"/>
              <a:chExt cx="6350000" cy="635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350000" cy="63500"/>
              </a:xfrm>
              <a:custGeom>
                <a:avLst/>
                <a:gdLst/>
                <a:ahLst/>
                <a:cxnLst/>
                <a:rect r="r" b="b" t="t" l="l"/>
                <a:pathLst>
                  <a:path h="63500" w="6350000">
                    <a:moveTo>
                      <a:pt x="0" y="0"/>
                    </a:moveTo>
                    <a:lnTo>
                      <a:pt x="6350000" y="0"/>
                    </a:lnTo>
                    <a:lnTo>
                      <a:pt x="6350000" y="63500"/>
                    </a:lnTo>
                    <a:lnTo>
                      <a:pt x="0" y="63500"/>
                    </a:lnTo>
                    <a:close/>
                  </a:path>
                </a:pathLst>
              </a:custGeom>
              <a:solidFill>
                <a:srgbClr val="D94B4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6350000" cy="10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0" y="327025"/>
              <a:ext cx="6350000" cy="441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87"/>
                </a:lnSpc>
              </a:pPr>
              <a:r>
                <a:rPr lang="en-US" sz="2250" b="true">
                  <a:solidFill>
                    <a:srgbClr val="10243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Secure access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448425" y="8191500"/>
            <a:ext cx="4762500" cy="576262"/>
            <a:chOff x="0" y="0"/>
            <a:chExt cx="6350000" cy="76835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6350000" cy="63500"/>
              <a:chOff x="0" y="0"/>
              <a:chExt cx="6350000" cy="635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6350000" cy="63500"/>
              </a:xfrm>
              <a:custGeom>
                <a:avLst/>
                <a:gdLst/>
                <a:ahLst/>
                <a:cxnLst/>
                <a:rect r="r" b="b" t="t" l="l"/>
                <a:pathLst>
                  <a:path h="63500" w="6350000">
                    <a:moveTo>
                      <a:pt x="0" y="0"/>
                    </a:moveTo>
                    <a:lnTo>
                      <a:pt x="6350000" y="0"/>
                    </a:lnTo>
                    <a:lnTo>
                      <a:pt x="6350000" y="63500"/>
                    </a:lnTo>
                    <a:lnTo>
                      <a:pt x="0" y="63500"/>
                    </a:lnTo>
                    <a:close/>
                  </a:path>
                </a:pathLst>
              </a:custGeom>
              <a:solidFill>
                <a:srgbClr val="08A6A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6350000" cy="10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0" y="327025"/>
              <a:ext cx="6350000" cy="441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87"/>
                </a:lnSpc>
              </a:pPr>
              <a:r>
                <a:rPr lang="en-US" sz="2250" b="true">
                  <a:solidFill>
                    <a:srgbClr val="10243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Live incident tracking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830050" y="8191500"/>
            <a:ext cx="4762500" cy="576262"/>
            <a:chOff x="0" y="0"/>
            <a:chExt cx="6350000" cy="76835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6350000" cy="63500"/>
              <a:chOff x="0" y="0"/>
              <a:chExt cx="6350000" cy="635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6350000" cy="63500"/>
              </a:xfrm>
              <a:custGeom>
                <a:avLst/>
                <a:gdLst/>
                <a:ahLst/>
                <a:cxnLst/>
                <a:rect r="r" b="b" t="t" l="l"/>
                <a:pathLst>
                  <a:path h="63500" w="6350000">
                    <a:moveTo>
                      <a:pt x="0" y="0"/>
                    </a:moveTo>
                    <a:lnTo>
                      <a:pt x="6350000" y="0"/>
                    </a:lnTo>
                    <a:lnTo>
                      <a:pt x="6350000" y="63500"/>
                    </a:lnTo>
                    <a:lnTo>
                      <a:pt x="0" y="63500"/>
                    </a:lnTo>
                    <a:close/>
                  </a:path>
                </a:pathLst>
              </a:custGeom>
              <a:solidFill>
                <a:srgbClr val="08A6A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6350000" cy="10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0" y="327025"/>
              <a:ext cx="6350000" cy="441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87"/>
                </a:lnSpc>
              </a:pPr>
              <a:r>
                <a:rPr lang="en-US" sz="2250" b="true">
                  <a:solidFill>
                    <a:srgbClr val="10243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Integrated communication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6800" y="733425"/>
            <a:ext cx="14287500" cy="503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9"/>
              </a:lnSpc>
            </a:pPr>
            <a:r>
              <a:rPr lang="en-US" sz="3675" b="true">
                <a:solidFill>
                  <a:srgbClr val="10243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Coordinated Response with Human-in-the-Loop Dispatch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143000" y="3238500"/>
            <a:ext cx="5143500" cy="3571875"/>
            <a:chOff x="0" y="0"/>
            <a:chExt cx="6858000" cy="47625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6858000" cy="3429000"/>
              <a:chOff x="0" y="0"/>
              <a:chExt cx="6858000" cy="3429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6858000" cy="3429000"/>
              </a:xfrm>
              <a:custGeom>
                <a:avLst/>
                <a:gdLst/>
                <a:ahLst/>
                <a:cxnLst/>
                <a:rect r="r" b="b" t="t" l="l"/>
                <a:pathLst>
                  <a:path h="3429000" w="6858000">
                    <a:moveTo>
                      <a:pt x="42333" y="0"/>
                    </a:moveTo>
                    <a:lnTo>
                      <a:pt x="6815667" y="0"/>
                    </a:lnTo>
                    <a:cubicBezTo>
                      <a:pt x="6826894" y="0"/>
                      <a:pt x="6837662" y="4460"/>
                      <a:pt x="6845601" y="12399"/>
                    </a:cubicBezTo>
                    <a:cubicBezTo>
                      <a:pt x="6853540" y="20338"/>
                      <a:pt x="6858000" y="31106"/>
                      <a:pt x="6858000" y="42333"/>
                    </a:cubicBezTo>
                    <a:lnTo>
                      <a:pt x="6858000" y="3386667"/>
                    </a:lnTo>
                    <a:cubicBezTo>
                      <a:pt x="6858000" y="3397894"/>
                      <a:pt x="6853540" y="3408662"/>
                      <a:pt x="6845601" y="3416601"/>
                    </a:cubicBezTo>
                    <a:cubicBezTo>
                      <a:pt x="6837662" y="3424540"/>
                      <a:pt x="6826894" y="3429000"/>
                      <a:pt x="6815667" y="3429000"/>
                    </a:cubicBezTo>
                    <a:lnTo>
                      <a:pt x="42333" y="3429000"/>
                    </a:lnTo>
                    <a:cubicBezTo>
                      <a:pt x="31106" y="3429000"/>
                      <a:pt x="20338" y="3424540"/>
                      <a:pt x="12399" y="3416601"/>
                    </a:cubicBezTo>
                    <a:cubicBezTo>
                      <a:pt x="4460" y="3408662"/>
                      <a:pt x="0" y="3397894"/>
                      <a:pt x="0" y="3386667"/>
                    </a:cubicBezTo>
                    <a:lnTo>
                      <a:pt x="0" y="42333"/>
                    </a:lnTo>
                    <a:cubicBezTo>
                      <a:pt x="0" y="31106"/>
                      <a:pt x="4460" y="20338"/>
                      <a:pt x="12399" y="12399"/>
                    </a:cubicBezTo>
                    <a:cubicBezTo>
                      <a:pt x="20338" y="4460"/>
                      <a:pt x="31106" y="0"/>
                      <a:pt x="42333" y="0"/>
                    </a:cubicBezTo>
                    <a:close/>
                  </a:path>
                </a:pathLst>
              </a:custGeom>
              <a:solidFill>
                <a:srgbClr val="F3F6F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19050"/>
                <a:ext cx="6858000" cy="34099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62"/>
                  </a:lnSpc>
                </a:pPr>
                <a:r>
                  <a:rPr lang="en-US" sz="1875" b="true">
                    <a:solidFill>
                      <a:srgbClr val="10243E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AI + OPERATOR REVIEW</a:t>
                </a:r>
              </a:p>
              <a:p>
                <a:pPr algn="ctr">
                  <a:lnSpc>
                    <a:spcPts val="2062"/>
                  </a:lnSpc>
                </a:pPr>
                <a:r>
                  <a:rPr lang="en-US" sz="1875" b="true">
                    <a:solidFill>
                      <a:srgbClr val="10243E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Confirm incident</a:t>
                </a: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317500" y="4343400"/>
              <a:ext cx="6350000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25"/>
                </a:lnSpc>
              </a:pPr>
              <a:r>
                <a:rPr lang="en-US" sz="1875">
                  <a:solidFill>
                    <a:srgbClr val="526477"/>
                  </a:solidFill>
                  <a:latin typeface="DM Sans"/>
                  <a:ea typeface="DM Sans"/>
                  <a:cs typeface="DM Sans"/>
                  <a:sym typeface="DM Sans"/>
                </a:rPr>
                <a:t>Evidence stays visible</a:t>
              </a:r>
            </a:p>
          </p:txBody>
        </p:sp>
      </p:grpSp>
      <p:sp>
        <p:nvSpPr>
          <p:cNvPr name="AutoShape 8" id="8"/>
          <p:cNvSpPr/>
          <p:nvPr/>
        </p:nvSpPr>
        <p:spPr>
          <a:xfrm>
            <a:off x="6334125" y="4524375"/>
            <a:ext cx="381000" cy="0"/>
          </a:xfrm>
          <a:prstGeom prst="line">
            <a:avLst/>
          </a:prstGeom>
          <a:ln cap="rnd" w="47625">
            <a:solidFill>
              <a:srgbClr val="08A6A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6572250" y="3238500"/>
            <a:ext cx="5143500" cy="3571875"/>
            <a:chOff x="0" y="0"/>
            <a:chExt cx="6858000" cy="47625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6858000" cy="3429000"/>
              <a:chOff x="0" y="0"/>
              <a:chExt cx="6858000" cy="3429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6858000" cy="3429000"/>
              </a:xfrm>
              <a:custGeom>
                <a:avLst/>
                <a:gdLst/>
                <a:ahLst/>
                <a:cxnLst/>
                <a:rect r="r" b="b" t="t" l="l"/>
                <a:pathLst>
                  <a:path h="3429000" w="6858000">
                    <a:moveTo>
                      <a:pt x="42333" y="0"/>
                    </a:moveTo>
                    <a:lnTo>
                      <a:pt x="6815667" y="0"/>
                    </a:lnTo>
                    <a:cubicBezTo>
                      <a:pt x="6826894" y="0"/>
                      <a:pt x="6837662" y="4460"/>
                      <a:pt x="6845601" y="12399"/>
                    </a:cubicBezTo>
                    <a:cubicBezTo>
                      <a:pt x="6853540" y="20338"/>
                      <a:pt x="6858000" y="31106"/>
                      <a:pt x="6858000" y="42333"/>
                    </a:cubicBezTo>
                    <a:lnTo>
                      <a:pt x="6858000" y="3386667"/>
                    </a:lnTo>
                    <a:cubicBezTo>
                      <a:pt x="6858000" y="3397894"/>
                      <a:pt x="6853540" y="3408662"/>
                      <a:pt x="6845601" y="3416601"/>
                    </a:cubicBezTo>
                    <a:cubicBezTo>
                      <a:pt x="6837662" y="3424540"/>
                      <a:pt x="6826894" y="3429000"/>
                      <a:pt x="6815667" y="3429000"/>
                    </a:cubicBezTo>
                    <a:lnTo>
                      <a:pt x="42333" y="3429000"/>
                    </a:lnTo>
                    <a:cubicBezTo>
                      <a:pt x="31106" y="3429000"/>
                      <a:pt x="20338" y="3424540"/>
                      <a:pt x="12399" y="3416601"/>
                    </a:cubicBezTo>
                    <a:cubicBezTo>
                      <a:pt x="4460" y="3408662"/>
                      <a:pt x="0" y="3397894"/>
                      <a:pt x="0" y="3386667"/>
                    </a:cubicBezTo>
                    <a:lnTo>
                      <a:pt x="0" y="42333"/>
                    </a:lnTo>
                    <a:cubicBezTo>
                      <a:pt x="0" y="31106"/>
                      <a:pt x="4460" y="20338"/>
                      <a:pt x="12399" y="12399"/>
                    </a:cubicBezTo>
                    <a:cubicBezTo>
                      <a:pt x="20338" y="4460"/>
                      <a:pt x="31106" y="0"/>
                      <a:pt x="42333" y="0"/>
                    </a:cubicBezTo>
                    <a:close/>
                  </a:path>
                </a:pathLst>
              </a:custGeom>
              <a:solidFill>
                <a:srgbClr val="F3F6F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19050"/>
                <a:ext cx="6858000" cy="34099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62"/>
                  </a:lnSpc>
                </a:pPr>
                <a:r>
                  <a:rPr lang="en-US" sz="1875" b="true">
                    <a:solidFill>
                      <a:srgbClr val="10243E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RESOURCE SUGGESTIONS</a:t>
                </a:r>
              </a:p>
              <a:p>
                <a:pPr algn="ctr">
                  <a:lnSpc>
                    <a:spcPts val="2062"/>
                  </a:lnSpc>
                </a:pPr>
                <a:r>
                  <a:rPr lang="en-US" sz="1875" b="true">
                    <a:solidFill>
                      <a:srgbClr val="10243E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Availability + proximity</a:t>
                </a: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317500" y="4343400"/>
              <a:ext cx="6350000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25"/>
                </a:lnSpc>
              </a:pPr>
              <a:r>
                <a:rPr lang="en-US" sz="1875">
                  <a:solidFill>
                    <a:srgbClr val="526477"/>
                  </a:solidFill>
                  <a:latin typeface="DM Sans"/>
                  <a:ea typeface="DM Sans"/>
                  <a:cs typeface="DM Sans"/>
                  <a:sym typeface="DM Sans"/>
                </a:rPr>
                <a:t>Recommendations, not orders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>
            <a:off x="11763375" y="4524375"/>
            <a:ext cx="381000" cy="0"/>
          </a:xfrm>
          <a:prstGeom prst="line">
            <a:avLst/>
          </a:prstGeom>
          <a:ln cap="rnd" w="47625">
            <a:solidFill>
              <a:srgbClr val="08A6A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12001500" y="3238500"/>
            <a:ext cx="5143500" cy="3571875"/>
            <a:chOff x="0" y="0"/>
            <a:chExt cx="6858000" cy="47625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6858000" cy="3429000"/>
              <a:chOff x="0" y="0"/>
              <a:chExt cx="6858000" cy="34290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6858000" cy="3429000"/>
              </a:xfrm>
              <a:custGeom>
                <a:avLst/>
                <a:gdLst/>
                <a:ahLst/>
                <a:cxnLst/>
                <a:rect r="r" b="b" t="t" l="l"/>
                <a:pathLst>
                  <a:path h="3429000" w="6858000">
                    <a:moveTo>
                      <a:pt x="42333" y="0"/>
                    </a:moveTo>
                    <a:lnTo>
                      <a:pt x="6815667" y="0"/>
                    </a:lnTo>
                    <a:cubicBezTo>
                      <a:pt x="6826894" y="0"/>
                      <a:pt x="6837662" y="4460"/>
                      <a:pt x="6845601" y="12399"/>
                    </a:cubicBezTo>
                    <a:cubicBezTo>
                      <a:pt x="6853540" y="20338"/>
                      <a:pt x="6858000" y="31106"/>
                      <a:pt x="6858000" y="42333"/>
                    </a:cubicBezTo>
                    <a:lnTo>
                      <a:pt x="6858000" y="3386667"/>
                    </a:lnTo>
                    <a:cubicBezTo>
                      <a:pt x="6858000" y="3397894"/>
                      <a:pt x="6853540" y="3408662"/>
                      <a:pt x="6845601" y="3416601"/>
                    </a:cubicBezTo>
                    <a:cubicBezTo>
                      <a:pt x="6837662" y="3424540"/>
                      <a:pt x="6826894" y="3429000"/>
                      <a:pt x="6815667" y="3429000"/>
                    </a:cubicBezTo>
                    <a:lnTo>
                      <a:pt x="42333" y="3429000"/>
                    </a:lnTo>
                    <a:cubicBezTo>
                      <a:pt x="31106" y="3429000"/>
                      <a:pt x="20338" y="3424540"/>
                      <a:pt x="12399" y="3416601"/>
                    </a:cubicBezTo>
                    <a:cubicBezTo>
                      <a:pt x="4460" y="3408662"/>
                      <a:pt x="0" y="3397894"/>
                      <a:pt x="0" y="3386667"/>
                    </a:cubicBezTo>
                    <a:lnTo>
                      <a:pt x="0" y="42333"/>
                    </a:lnTo>
                    <a:cubicBezTo>
                      <a:pt x="0" y="31106"/>
                      <a:pt x="4460" y="20338"/>
                      <a:pt x="12399" y="12399"/>
                    </a:cubicBezTo>
                    <a:cubicBezTo>
                      <a:pt x="20338" y="4460"/>
                      <a:pt x="31106" y="0"/>
                      <a:pt x="42333" y="0"/>
                    </a:cubicBezTo>
                    <a:close/>
                  </a:path>
                </a:pathLst>
              </a:custGeom>
              <a:solidFill>
                <a:srgbClr val="E9F8F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19050"/>
                <a:ext cx="6858000" cy="34099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62"/>
                  </a:lnSpc>
                </a:pPr>
                <a:r>
                  <a:rPr lang="en-US" sz="1875" b="true">
                    <a:solidFill>
                      <a:srgbClr val="08A6A6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HUMAN APPROVAL</a:t>
                </a:r>
              </a:p>
              <a:p>
                <a:pPr algn="ctr">
                  <a:lnSpc>
                    <a:spcPts val="2062"/>
                  </a:lnSpc>
                </a:pPr>
                <a:r>
                  <a:rPr lang="en-US" sz="1875" b="true">
                    <a:solidFill>
                      <a:srgbClr val="08A6A6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Simulate dispatch</a:t>
                </a: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317500" y="4343400"/>
              <a:ext cx="6350000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25"/>
                </a:lnSpc>
              </a:pPr>
              <a:r>
                <a:rPr lang="en-US" sz="1875">
                  <a:solidFill>
                    <a:srgbClr val="526477"/>
                  </a:solidFill>
                  <a:latin typeface="DM Sans"/>
                  <a:ea typeface="DM Sans"/>
                  <a:cs typeface="DM Sans"/>
                  <a:sym typeface="DM Sans"/>
                </a:rPr>
                <a:t>No automatic live dispatch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3619500" y="8543925"/>
            <a:ext cx="11049000" cy="321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50" b="true">
                <a:solidFill>
                  <a:srgbClr val="D94B4B"/>
                </a:solidFill>
                <a:latin typeface="DM Sans Bold"/>
                <a:ea typeface="DM Sans Bold"/>
                <a:cs typeface="DM Sans Bold"/>
                <a:sym typeface="DM Sans Bold"/>
              </a:rPr>
              <a:t>Prototype boundary: suggestions and dispatch are demonstrated in simulation mode only.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6800" y="752475"/>
            <a:ext cx="14287500" cy="663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 b="true">
                <a:solidFill>
                  <a:srgbClr val="10243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Robust, Scalable Architecture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143000" y="2857500"/>
            <a:ext cx="4762500" cy="1809750"/>
            <a:chOff x="0" y="0"/>
            <a:chExt cx="6350000" cy="2413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6350000">
                  <a:moveTo>
                    <a:pt x="45720" y="0"/>
                  </a:moveTo>
                  <a:lnTo>
                    <a:pt x="6304280" y="0"/>
                  </a:lnTo>
                  <a:cubicBezTo>
                    <a:pt x="6316406" y="0"/>
                    <a:pt x="6328035" y="4817"/>
                    <a:pt x="6336609" y="13391"/>
                  </a:cubicBezTo>
                  <a:cubicBezTo>
                    <a:pt x="6345183" y="21965"/>
                    <a:pt x="6350000" y="33594"/>
                    <a:pt x="6350000" y="45720"/>
                  </a:cubicBezTo>
                  <a:lnTo>
                    <a:pt x="6350000" y="2367280"/>
                  </a:lnTo>
                  <a:cubicBezTo>
                    <a:pt x="6350000" y="2392531"/>
                    <a:pt x="6329530" y="2413000"/>
                    <a:pt x="6304280" y="2413000"/>
                  </a:cubicBezTo>
                  <a:lnTo>
                    <a:pt x="45720" y="2413000"/>
                  </a:lnTo>
                  <a:cubicBezTo>
                    <a:pt x="20470" y="2413000"/>
                    <a:pt x="0" y="2392531"/>
                    <a:pt x="0" y="2367280"/>
                  </a:cubicBezTo>
                  <a:lnTo>
                    <a:pt x="0" y="45720"/>
                  </a:lnTo>
                  <a:cubicBezTo>
                    <a:pt x="0" y="20470"/>
                    <a:pt x="20470" y="0"/>
                    <a:pt x="45720" y="0"/>
                  </a:cubicBezTo>
                  <a:close/>
                </a:path>
              </a:pathLst>
            </a:custGeom>
            <a:solidFill>
              <a:srgbClr val="F3F6F8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6350000" cy="2393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10243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CITIZEN PWA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43000" y="6000750"/>
            <a:ext cx="4762500" cy="1809750"/>
            <a:chOff x="0" y="0"/>
            <a:chExt cx="6350000" cy="2413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6350000">
                  <a:moveTo>
                    <a:pt x="45720" y="0"/>
                  </a:moveTo>
                  <a:lnTo>
                    <a:pt x="6304280" y="0"/>
                  </a:lnTo>
                  <a:cubicBezTo>
                    <a:pt x="6316406" y="0"/>
                    <a:pt x="6328035" y="4817"/>
                    <a:pt x="6336609" y="13391"/>
                  </a:cubicBezTo>
                  <a:cubicBezTo>
                    <a:pt x="6345183" y="21965"/>
                    <a:pt x="6350000" y="33594"/>
                    <a:pt x="6350000" y="45720"/>
                  </a:cubicBezTo>
                  <a:lnTo>
                    <a:pt x="6350000" y="2367280"/>
                  </a:lnTo>
                  <a:cubicBezTo>
                    <a:pt x="6350000" y="2392531"/>
                    <a:pt x="6329530" y="2413000"/>
                    <a:pt x="6304280" y="2413000"/>
                  </a:cubicBezTo>
                  <a:lnTo>
                    <a:pt x="45720" y="2413000"/>
                  </a:lnTo>
                  <a:cubicBezTo>
                    <a:pt x="20470" y="2413000"/>
                    <a:pt x="0" y="2392531"/>
                    <a:pt x="0" y="2367280"/>
                  </a:cubicBezTo>
                  <a:lnTo>
                    <a:pt x="0" y="45720"/>
                  </a:lnTo>
                  <a:cubicBezTo>
                    <a:pt x="0" y="20470"/>
                    <a:pt x="20470" y="0"/>
                    <a:pt x="45720" y="0"/>
                  </a:cubicBezTo>
                  <a:close/>
                </a:path>
              </a:pathLst>
            </a:custGeom>
            <a:solidFill>
              <a:srgbClr val="F3F6F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19050"/>
              <a:ext cx="6350000" cy="2393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10243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MAPPING UI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572250" y="2857500"/>
            <a:ext cx="4762500" cy="1809750"/>
            <a:chOff x="0" y="0"/>
            <a:chExt cx="6350000" cy="2413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6350000">
                  <a:moveTo>
                    <a:pt x="45720" y="0"/>
                  </a:moveTo>
                  <a:lnTo>
                    <a:pt x="6304280" y="0"/>
                  </a:lnTo>
                  <a:cubicBezTo>
                    <a:pt x="6316406" y="0"/>
                    <a:pt x="6328035" y="4817"/>
                    <a:pt x="6336609" y="13391"/>
                  </a:cubicBezTo>
                  <a:cubicBezTo>
                    <a:pt x="6345183" y="21965"/>
                    <a:pt x="6350000" y="33594"/>
                    <a:pt x="6350000" y="45720"/>
                  </a:cubicBezTo>
                  <a:lnTo>
                    <a:pt x="6350000" y="2367280"/>
                  </a:lnTo>
                  <a:cubicBezTo>
                    <a:pt x="6350000" y="2392531"/>
                    <a:pt x="6329530" y="2413000"/>
                    <a:pt x="6304280" y="2413000"/>
                  </a:cubicBezTo>
                  <a:lnTo>
                    <a:pt x="45720" y="2413000"/>
                  </a:lnTo>
                  <a:cubicBezTo>
                    <a:pt x="20470" y="2413000"/>
                    <a:pt x="0" y="2392531"/>
                    <a:pt x="0" y="2367280"/>
                  </a:cubicBezTo>
                  <a:lnTo>
                    <a:pt x="0" y="45720"/>
                  </a:lnTo>
                  <a:cubicBezTo>
                    <a:pt x="0" y="20470"/>
                    <a:pt x="20470" y="0"/>
                    <a:pt x="45720" y="0"/>
                  </a:cubicBezTo>
                  <a:close/>
                </a:path>
              </a:pathLst>
            </a:custGeom>
            <a:solidFill>
              <a:srgbClr val="10243E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19050"/>
              <a:ext cx="6350000" cy="2393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BACKEND / API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572250" y="6000750"/>
            <a:ext cx="4762500" cy="1809750"/>
            <a:chOff x="0" y="0"/>
            <a:chExt cx="6350000" cy="2413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6350000">
                  <a:moveTo>
                    <a:pt x="45720" y="0"/>
                  </a:moveTo>
                  <a:lnTo>
                    <a:pt x="6304280" y="0"/>
                  </a:lnTo>
                  <a:cubicBezTo>
                    <a:pt x="6316406" y="0"/>
                    <a:pt x="6328035" y="4817"/>
                    <a:pt x="6336609" y="13391"/>
                  </a:cubicBezTo>
                  <a:cubicBezTo>
                    <a:pt x="6345183" y="21965"/>
                    <a:pt x="6350000" y="33594"/>
                    <a:pt x="6350000" y="45720"/>
                  </a:cubicBezTo>
                  <a:lnTo>
                    <a:pt x="6350000" y="2367280"/>
                  </a:lnTo>
                  <a:cubicBezTo>
                    <a:pt x="6350000" y="2392531"/>
                    <a:pt x="6329530" y="2413000"/>
                    <a:pt x="6304280" y="2413000"/>
                  </a:cubicBezTo>
                  <a:lnTo>
                    <a:pt x="45720" y="2413000"/>
                  </a:lnTo>
                  <a:cubicBezTo>
                    <a:pt x="20470" y="2413000"/>
                    <a:pt x="0" y="2392531"/>
                    <a:pt x="0" y="2367280"/>
                  </a:cubicBezTo>
                  <a:lnTo>
                    <a:pt x="0" y="45720"/>
                  </a:lnTo>
                  <a:cubicBezTo>
                    <a:pt x="0" y="20470"/>
                    <a:pt x="20470" y="0"/>
                    <a:pt x="45720" y="0"/>
                  </a:cubicBezTo>
                  <a:close/>
                </a:path>
              </a:pathLst>
            </a:custGeom>
            <a:solidFill>
              <a:srgbClr val="F3F6F8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19050"/>
              <a:ext cx="6350000" cy="2393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10243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DATABASE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001500" y="2857500"/>
            <a:ext cx="4762500" cy="1809750"/>
            <a:chOff x="0" y="0"/>
            <a:chExt cx="6350000" cy="2413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350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6350000">
                  <a:moveTo>
                    <a:pt x="45720" y="0"/>
                  </a:moveTo>
                  <a:lnTo>
                    <a:pt x="6304280" y="0"/>
                  </a:lnTo>
                  <a:cubicBezTo>
                    <a:pt x="6316406" y="0"/>
                    <a:pt x="6328035" y="4817"/>
                    <a:pt x="6336609" y="13391"/>
                  </a:cubicBezTo>
                  <a:cubicBezTo>
                    <a:pt x="6345183" y="21965"/>
                    <a:pt x="6350000" y="33594"/>
                    <a:pt x="6350000" y="45720"/>
                  </a:cubicBezTo>
                  <a:lnTo>
                    <a:pt x="6350000" y="2367280"/>
                  </a:lnTo>
                  <a:cubicBezTo>
                    <a:pt x="6350000" y="2392531"/>
                    <a:pt x="6329530" y="2413000"/>
                    <a:pt x="6304280" y="2413000"/>
                  </a:cubicBezTo>
                  <a:lnTo>
                    <a:pt x="45720" y="2413000"/>
                  </a:lnTo>
                  <a:cubicBezTo>
                    <a:pt x="20470" y="2413000"/>
                    <a:pt x="0" y="2392531"/>
                    <a:pt x="0" y="2367280"/>
                  </a:cubicBezTo>
                  <a:lnTo>
                    <a:pt x="0" y="45720"/>
                  </a:lnTo>
                  <a:cubicBezTo>
                    <a:pt x="0" y="20470"/>
                    <a:pt x="20470" y="0"/>
                    <a:pt x="45720" y="0"/>
                  </a:cubicBezTo>
                  <a:close/>
                </a:path>
              </a:pathLst>
            </a:custGeom>
            <a:solidFill>
              <a:srgbClr val="F3F6F8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19050"/>
              <a:ext cx="6350000" cy="2393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10243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AI MICROSERVICES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001500" y="6000750"/>
            <a:ext cx="4762500" cy="1809750"/>
            <a:chOff x="0" y="0"/>
            <a:chExt cx="6350000" cy="2413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350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6350000">
                  <a:moveTo>
                    <a:pt x="45720" y="0"/>
                  </a:moveTo>
                  <a:lnTo>
                    <a:pt x="6304280" y="0"/>
                  </a:lnTo>
                  <a:cubicBezTo>
                    <a:pt x="6316406" y="0"/>
                    <a:pt x="6328035" y="4817"/>
                    <a:pt x="6336609" y="13391"/>
                  </a:cubicBezTo>
                  <a:cubicBezTo>
                    <a:pt x="6345183" y="21965"/>
                    <a:pt x="6350000" y="33594"/>
                    <a:pt x="6350000" y="45720"/>
                  </a:cubicBezTo>
                  <a:lnTo>
                    <a:pt x="6350000" y="2367280"/>
                  </a:lnTo>
                  <a:cubicBezTo>
                    <a:pt x="6350000" y="2392531"/>
                    <a:pt x="6329530" y="2413000"/>
                    <a:pt x="6304280" y="2413000"/>
                  </a:cubicBezTo>
                  <a:lnTo>
                    <a:pt x="45720" y="2413000"/>
                  </a:lnTo>
                  <a:cubicBezTo>
                    <a:pt x="20470" y="2413000"/>
                    <a:pt x="0" y="2392531"/>
                    <a:pt x="0" y="2367280"/>
                  </a:cubicBezTo>
                  <a:lnTo>
                    <a:pt x="0" y="45720"/>
                  </a:lnTo>
                  <a:cubicBezTo>
                    <a:pt x="0" y="20470"/>
                    <a:pt x="20470" y="0"/>
                    <a:pt x="45720" y="0"/>
                  </a:cubicBezTo>
                  <a:close/>
                </a:path>
              </a:pathLst>
            </a:custGeom>
            <a:solidFill>
              <a:srgbClr val="F3F6F8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19050"/>
              <a:ext cx="6350000" cy="2393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10243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ROUTING · OPTIONAL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>
            <a:off x="5905500" y="3762375"/>
            <a:ext cx="571500" cy="0"/>
          </a:xfrm>
          <a:prstGeom prst="line">
            <a:avLst/>
          </a:prstGeom>
          <a:ln cap="rnd" w="38100">
            <a:solidFill>
              <a:srgbClr val="38C7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>
            <a:off x="11334750" y="3762375"/>
            <a:ext cx="571500" cy="0"/>
          </a:xfrm>
          <a:prstGeom prst="line">
            <a:avLst/>
          </a:prstGeom>
          <a:ln cap="rnd" w="38100">
            <a:solidFill>
              <a:srgbClr val="38C7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>
            <a:off x="5905500" y="6905625"/>
            <a:ext cx="571500" cy="0"/>
          </a:xfrm>
          <a:prstGeom prst="line">
            <a:avLst/>
          </a:prstGeom>
          <a:ln cap="rnd" w="38100">
            <a:solidFill>
              <a:srgbClr val="38C7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>
            <a:off x="11334750" y="6905625"/>
            <a:ext cx="571500" cy="0"/>
          </a:xfrm>
          <a:prstGeom prst="line">
            <a:avLst/>
          </a:prstGeom>
          <a:ln cap="rnd" w="38100">
            <a:solidFill>
              <a:srgbClr val="38C7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5" id="25"/>
          <p:cNvSpPr txBox="true"/>
          <p:nvPr/>
        </p:nvSpPr>
        <p:spPr>
          <a:xfrm rot="0">
            <a:off x="12001500" y="4876800"/>
            <a:ext cx="476250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>
                <a:solidFill>
                  <a:srgbClr val="08A6A6"/>
                </a:solidFill>
                <a:latin typeface="DM Sans"/>
                <a:ea typeface="DM Sans"/>
                <a:cs typeface="DM Sans"/>
                <a:sym typeface="DM Sans"/>
              </a:rPr>
              <a:t>Classification · severity · duplicate detection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6800" y="752475"/>
            <a:ext cx="14287500" cy="663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 b="true">
                <a:solidFill>
                  <a:srgbClr val="10243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Building Trust and Ensuring Safety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66800" y="2571750"/>
            <a:ext cx="7524750" cy="2619375"/>
            <a:chOff x="0" y="0"/>
            <a:chExt cx="10033000" cy="34925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0033000" cy="3492500"/>
              <a:chOff x="0" y="0"/>
              <a:chExt cx="10033000" cy="34925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0033000" cy="3492500"/>
              </a:xfrm>
              <a:custGeom>
                <a:avLst/>
                <a:gdLst/>
                <a:ahLst/>
                <a:cxnLst/>
                <a:rect r="r" b="b" t="t" l="l"/>
                <a:pathLst>
                  <a:path h="34925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3492500"/>
                    </a:lnTo>
                    <a:lnTo>
                      <a:pt x="0" y="3492500"/>
                    </a:lnTo>
                    <a:close/>
                  </a:path>
                </a:pathLst>
              </a:custGeom>
              <a:solidFill>
                <a:srgbClr val="F3F6F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10033000" cy="3530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0" y="0"/>
              <a:ext cx="101600" cy="3492500"/>
              <a:chOff x="0" y="0"/>
              <a:chExt cx="101600" cy="34925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01600" cy="3492500"/>
              </a:xfrm>
              <a:custGeom>
                <a:avLst/>
                <a:gdLst/>
                <a:ahLst/>
                <a:cxnLst/>
                <a:rect r="r" b="b" t="t" l="l"/>
                <a:pathLst>
                  <a:path h="3492500" w="1016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3492500"/>
                    </a:lnTo>
                    <a:lnTo>
                      <a:pt x="0" y="3492500"/>
                    </a:lnTo>
                    <a:close/>
                  </a:path>
                </a:pathLst>
              </a:custGeom>
              <a:solidFill>
                <a:srgbClr val="08A6A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101600" cy="3530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571500" y="619125"/>
              <a:ext cx="8255000" cy="441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87"/>
                </a:lnSpc>
              </a:pPr>
              <a:r>
                <a:rPr lang="en-US" sz="2250" b="true">
                  <a:solidFill>
                    <a:srgbClr val="10243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Privacy first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571500" y="1476375"/>
              <a:ext cx="8382000" cy="9599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82"/>
                </a:lnSpc>
              </a:pPr>
              <a:r>
                <a:rPr lang="en-US" sz="2100">
                  <a:solidFill>
                    <a:srgbClr val="526477"/>
                  </a:solidFill>
                  <a:latin typeface="DM Sans"/>
                  <a:ea typeface="DM Sans"/>
                  <a:cs typeface="DM Sans"/>
                  <a:sym typeface="DM Sans"/>
                </a:rPr>
                <a:t>No citizen account required; minimize retained personal data.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63050" y="2571750"/>
            <a:ext cx="7524750" cy="2619375"/>
            <a:chOff x="0" y="0"/>
            <a:chExt cx="10033000" cy="349250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0033000" cy="3492500"/>
              <a:chOff x="0" y="0"/>
              <a:chExt cx="10033000" cy="34925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0033000" cy="3492500"/>
              </a:xfrm>
              <a:custGeom>
                <a:avLst/>
                <a:gdLst/>
                <a:ahLst/>
                <a:cxnLst/>
                <a:rect r="r" b="b" t="t" l="l"/>
                <a:pathLst>
                  <a:path h="34925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3492500"/>
                    </a:lnTo>
                    <a:lnTo>
                      <a:pt x="0" y="3492500"/>
                    </a:lnTo>
                    <a:close/>
                  </a:path>
                </a:pathLst>
              </a:custGeom>
              <a:solidFill>
                <a:srgbClr val="F3F6F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0033000" cy="3530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0"/>
              <a:ext cx="101600" cy="3492500"/>
              <a:chOff x="0" y="0"/>
              <a:chExt cx="101600" cy="34925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01600" cy="3492500"/>
              </a:xfrm>
              <a:custGeom>
                <a:avLst/>
                <a:gdLst/>
                <a:ahLst/>
                <a:cxnLst/>
                <a:rect r="r" b="b" t="t" l="l"/>
                <a:pathLst>
                  <a:path h="3492500" w="1016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3492500"/>
                    </a:lnTo>
                    <a:lnTo>
                      <a:pt x="0" y="3492500"/>
                    </a:lnTo>
                    <a:close/>
                  </a:path>
                </a:pathLst>
              </a:custGeom>
              <a:solidFill>
                <a:srgbClr val="08A6A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01600" cy="3530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571500" y="619125"/>
              <a:ext cx="8255000" cy="441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87"/>
                </a:lnSpc>
              </a:pPr>
              <a:r>
                <a:rPr lang="en-US" sz="2250" b="true">
                  <a:solidFill>
                    <a:srgbClr val="10243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Secured console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571500" y="1476375"/>
              <a:ext cx="8382000" cy="9599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82"/>
                </a:lnSpc>
              </a:pPr>
              <a:r>
                <a:rPr lang="en-US" sz="2100">
                  <a:solidFill>
                    <a:srgbClr val="526477"/>
                  </a:solidFill>
                  <a:latin typeface="DM Sans"/>
                  <a:ea typeface="DM Sans"/>
                  <a:cs typeface="DM Sans"/>
                  <a:sym typeface="DM Sans"/>
                </a:rPr>
                <a:t>Authentication gates operator tools and sensitive incident views.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66800" y="5905500"/>
            <a:ext cx="7524750" cy="2619375"/>
            <a:chOff x="0" y="0"/>
            <a:chExt cx="10033000" cy="3492500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10033000" cy="3492500"/>
              <a:chOff x="0" y="0"/>
              <a:chExt cx="10033000" cy="34925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0033000" cy="3492500"/>
              </a:xfrm>
              <a:custGeom>
                <a:avLst/>
                <a:gdLst/>
                <a:ahLst/>
                <a:cxnLst/>
                <a:rect r="r" b="b" t="t" l="l"/>
                <a:pathLst>
                  <a:path h="34925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3492500"/>
                    </a:lnTo>
                    <a:lnTo>
                      <a:pt x="0" y="3492500"/>
                    </a:lnTo>
                    <a:close/>
                  </a:path>
                </a:pathLst>
              </a:custGeom>
              <a:solidFill>
                <a:srgbClr val="FFF1F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10033000" cy="3530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0" y="0"/>
              <a:ext cx="101600" cy="3492500"/>
              <a:chOff x="0" y="0"/>
              <a:chExt cx="101600" cy="34925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01600" cy="3492500"/>
              </a:xfrm>
              <a:custGeom>
                <a:avLst/>
                <a:gdLst/>
                <a:ahLst/>
                <a:cxnLst/>
                <a:rect r="r" b="b" t="t" l="l"/>
                <a:pathLst>
                  <a:path h="3492500" w="1016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3492500"/>
                    </a:lnTo>
                    <a:lnTo>
                      <a:pt x="0" y="3492500"/>
                    </a:lnTo>
                    <a:close/>
                  </a:path>
                </a:pathLst>
              </a:custGeom>
              <a:solidFill>
                <a:srgbClr val="D94B4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101600" cy="3530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571500" y="619125"/>
              <a:ext cx="8255000" cy="441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87"/>
                </a:lnSpc>
              </a:pPr>
              <a:r>
                <a:rPr lang="en-US" sz="2250" b="true">
                  <a:solidFill>
                    <a:srgbClr val="10243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Prototype scope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571500" y="1476375"/>
              <a:ext cx="8382000" cy="9599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82"/>
                </a:lnSpc>
              </a:pPr>
              <a:r>
                <a:rPr lang="en-US" sz="2100">
                  <a:solidFill>
                    <a:srgbClr val="526477"/>
                  </a:solidFill>
                  <a:latin typeface="DM Sans"/>
                  <a:ea typeface="DM Sans"/>
                  <a:cs typeface="DM Sans"/>
                  <a:sym typeface="DM Sans"/>
                </a:rPr>
                <a:t>No live emergency notifications or official dispatch.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163050" y="5905500"/>
            <a:ext cx="7524750" cy="2619375"/>
            <a:chOff x="0" y="0"/>
            <a:chExt cx="10033000" cy="3492500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10033000" cy="3492500"/>
              <a:chOff x="0" y="0"/>
              <a:chExt cx="10033000" cy="34925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0033000" cy="3492500"/>
              </a:xfrm>
              <a:custGeom>
                <a:avLst/>
                <a:gdLst/>
                <a:ahLst/>
                <a:cxnLst/>
                <a:rect r="r" b="b" t="t" l="l"/>
                <a:pathLst>
                  <a:path h="34925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3492500"/>
                    </a:lnTo>
                    <a:lnTo>
                      <a:pt x="0" y="3492500"/>
                    </a:lnTo>
                    <a:close/>
                  </a:path>
                </a:pathLst>
              </a:custGeom>
              <a:solidFill>
                <a:srgbClr val="F3F6F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10033000" cy="3530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0" y="0"/>
              <a:ext cx="101600" cy="3492500"/>
              <a:chOff x="0" y="0"/>
              <a:chExt cx="101600" cy="34925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101600" cy="3492500"/>
              </a:xfrm>
              <a:custGeom>
                <a:avLst/>
                <a:gdLst/>
                <a:ahLst/>
                <a:cxnLst/>
                <a:rect r="r" b="b" t="t" l="l"/>
                <a:pathLst>
                  <a:path h="3492500" w="1016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3492500"/>
                    </a:lnTo>
                    <a:lnTo>
                      <a:pt x="0" y="3492500"/>
                    </a:lnTo>
                    <a:close/>
                  </a:path>
                </a:pathLst>
              </a:custGeom>
              <a:solidFill>
                <a:srgbClr val="08A6A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38100"/>
                <a:ext cx="101600" cy="3530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7" id="37"/>
            <p:cNvSpPr txBox="true"/>
            <p:nvPr/>
          </p:nvSpPr>
          <p:spPr>
            <a:xfrm rot="0">
              <a:off x="571500" y="619125"/>
              <a:ext cx="8255000" cy="441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87"/>
                </a:lnSpc>
              </a:pPr>
              <a:r>
                <a:rPr lang="en-US" sz="2250" b="true">
                  <a:solidFill>
                    <a:srgbClr val="10243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Augment, not replace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571500" y="1476375"/>
              <a:ext cx="8382000" cy="9599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82"/>
                </a:lnSpc>
              </a:pPr>
              <a:r>
                <a:rPr lang="en-US" sz="2100">
                  <a:solidFill>
                    <a:srgbClr val="526477"/>
                  </a:solidFill>
                  <a:latin typeface="DM Sans"/>
                  <a:ea typeface="DM Sans"/>
                  <a:cs typeface="DM Sans"/>
                  <a:sym typeface="DM Sans"/>
                </a:rPr>
                <a:t>Designed to support—not substitute—existing emergency services.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6800" y="752475"/>
            <a:ext cx="14287500" cy="663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 b="true">
                <a:solidFill>
                  <a:srgbClr val="10243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Impact So Far &amp; Path Forward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762000" y="2095500"/>
            <a:ext cx="6477000" cy="6858000"/>
            <a:chOff x="0" y="0"/>
            <a:chExt cx="8636000" cy="9144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636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8636000">
                  <a:moveTo>
                    <a:pt x="0" y="0"/>
                  </a:moveTo>
                  <a:lnTo>
                    <a:pt x="8636000" y="0"/>
                  </a:lnTo>
                  <a:lnTo>
                    <a:pt x="8636000" y="9144000"/>
                  </a:lnTo>
                  <a:lnTo>
                    <a:pt x="0" y="9144000"/>
                  </a:lnTo>
                  <a:close/>
                </a:path>
              </a:pathLst>
            </a:custGeom>
            <a:solidFill>
              <a:srgbClr val="F3F6F8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8636000" cy="918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66800" y="2352675"/>
            <a:ext cx="571500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08A6A6"/>
                </a:solidFill>
                <a:latin typeface="DM Sans Bold"/>
                <a:ea typeface="DM Sans Bold"/>
                <a:cs typeface="DM Sans Bold"/>
                <a:sym typeface="DM Sans Bold"/>
              </a:rPr>
              <a:t>ILLUSTRATIVE DEMO DATA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66800" y="3114675"/>
            <a:ext cx="2857500" cy="663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 b="true">
                <a:solidFill>
                  <a:srgbClr val="10243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128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66800" y="4000500"/>
            <a:ext cx="4762500" cy="360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2"/>
              </a:lnSpc>
            </a:pPr>
            <a:r>
              <a:rPr lang="en-US" sz="2100">
                <a:solidFill>
                  <a:srgbClr val="526477"/>
                </a:solidFill>
                <a:latin typeface="DM Sans"/>
                <a:ea typeface="DM Sans"/>
                <a:cs typeface="DM Sans"/>
                <a:sym typeface="DM Sans"/>
              </a:rPr>
              <a:t>sample reports processed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66800" y="5400675"/>
            <a:ext cx="2857500" cy="663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 b="true">
                <a:solidFill>
                  <a:srgbClr val="10243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34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6800" y="6286500"/>
            <a:ext cx="4762500" cy="360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2"/>
              </a:lnSpc>
            </a:pPr>
            <a:r>
              <a:rPr lang="en-US" sz="2100">
                <a:solidFill>
                  <a:srgbClr val="526477"/>
                </a:solidFill>
                <a:latin typeface="DM Sans"/>
                <a:ea typeface="DM Sans"/>
                <a:cs typeface="DM Sans"/>
                <a:sym typeface="DM Sans"/>
              </a:rPr>
              <a:t>demo incidents clustered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66800" y="7972425"/>
            <a:ext cx="571500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D94B4B"/>
                </a:solidFill>
                <a:latin typeface="DM Sans Bold"/>
                <a:ea typeface="DM Sans Bold"/>
                <a:cs typeface="DM Sans Bold"/>
                <a:sym typeface="DM Sans Bold"/>
              </a:rPr>
              <a:t>Not validated performance claims</a:t>
            </a:r>
          </a:p>
        </p:txBody>
      </p:sp>
      <p:sp>
        <p:nvSpPr>
          <p:cNvPr name="AutoShape 12" id="12"/>
          <p:cNvSpPr/>
          <p:nvPr/>
        </p:nvSpPr>
        <p:spPr>
          <a:xfrm>
            <a:off x="8334375" y="2857500"/>
            <a:ext cx="0" cy="4953000"/>
          </a:xfrm>
          <a:prstGeom prst="line">
            <a:avLst/>
          </a:prstGeom>
          <a:ln cap="rnd" w="47625">
            <a:solidFill>
              <a:srgbClr val="38C7D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8162925" y="2638425"/>
            <a:ext cx="8124825" cy="661988"/>
            <a:chOff x="0" y="0"/>
            <a:chExt cx="10833100" cy="88265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152400"/>
              <a:ext cx="457200" cy="457200"/>
              <a:chOff x="0" y="0"/>
              <a:chExt cx="457200" cy="4572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457200" cy="457200"/>
              </a:xfrm>
              <a:custGeom>
                <a:avLst/>
                <a:gdLst/>
                <a:ahLst/>
                <a:cxnLst/>
                <a:rect r="r" b="b" t="t" l="l"/>
                <a:pathLst>
                  <a:path h="457200" w="457200">
                    <a:moveTo>
                      <a:pt x="228600" y="0"/>
                    </a:moveTo>
                    <a:cubicBezTo>
                      <a:pt x="354852" y="0"/>
                      <a:pt x="457200" y="102348"/>
                      <a:pt x="457200" y="228600"/>
                    </a:cubicBezTo>
                    <a:cubicBezTo>
                      <a:pt x="457200" y="354852"/>
                      <a:pt x="354852" y="457200"/>
                      <a:pt x="228600" y="457200"/>
                    </a:cubicBezTo>
                    <a:cubicBezTo>
                      <a:pt x="102348" y="457200"/>
                      <a:pt x="0" y="354852"/>
                      <a:pt x="0" y="228600"/>
                    </a:cubicBezTo>
                    <a:cubicBezTo>
                      <a:pt x="0" y="102348"/>
                      <a:pt x="102348" y="0"/>
                      <a:pt x="228600" y="0"/>
                    </a:cubicBezTo>
                    <a:close/>
                  </a:path>
                </a:pathLst>
              </a:custGeom>
              <a:solidFill>
                <a:srgbClr val="08A6A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457200" cy="495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927100" y="63500"/>
              <a:ext cx="279400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true">
                  <a:solidFill>
                    <a:srgbClr val="08A6A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Q4 2026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4229100" y="9525"/>
              <a:ext cx="6604000" cy="873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87"/>
                </a:lnSpc>
              </a:pPr>
              <a:r>
                <a:rPr lang="en-US" sz="2250" b="true">
                  <a:solidFill>
                    <a:srgbClr val="10243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Extended model training</a:t>
              </a:r>
            </a:p>
            <a:p>
              <a:pPr algn="l">
                <a:lnSpc>
                  <a:spcPts val="2587"/>
                </a:lnSpc>
              </a:pPr>
              <a:r>
                <a:rPr lang="en-US" sz="2250" b="true">
                  <a:solidFill>
                    <a:srgbClr val="10243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+ UI enhancements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162925" y="4972050"/>
            <a:ext cx="8124825" cy="661988"/>
            <a:chOff x="0" y="0"/>
            <a:chExt cx="10833100" cy="882650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152400"/>
              <a:ext cx="457200" cy="457200"/>
              <a:chOff x="0" y="0"/>
              <a:chExt cx="457200" cy="4572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457200" cy="457200"/>
              </a:xfrm>
              <a:custGeom>
                <a:avLst/>
                <a:gdLst/>
                <a:ahLst/>
                <a:cxnLst/>
                <a:rect r="r" b="b" t="t" l="l"/>
                <a:pathLst>
                  <a:path h="457200" w="457200">
                    <a:moveTo>
                      <a:pt x="228600" y="0"/>
                    </a:moveTo>
                    <a:cubicBezTo>
                      <a:pt x="354852" y="0"/>
                      <a:pt x="457200" y="102348"/>
                      <a:pt x="457200" y="228600"/>
                    </a:cubicBezTo>
                    <a:cubicBezTo>
                      <a:pt x="457200" y="354852"/>
                      <a:pt x="354852" y="457200"/>
                      <a:pt x="228600" y="457200"/>
                    </a:cubicBezTo>
                    <a:cubicBezTo>
                      <a:pt x="102348" y="457200"/>
                      <a:pt x="0" y="354852"/>
                      <a:pt x="0" y="228600"/>
                    </a:cubicBezTo>
                    <a:cubicBezTo>
                      <a:pt x="0" y="102348"/>
                      <a:pt x="102348" y="0"/>
                      <a:pt x="228600" y="0"/>
                    </a:cubicBezTo>
                    <a:close/>
                  </a:path>
                </a:pathLst>
              </a:custGeom>
              <a:solidFill>
                <a:srgbClr val="D94B4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457200" cy="495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927100" y="63500"/>
              <a:ext cx="279400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true">
                  <a:solidFill>
                    <a:srgbClr val="D94B4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Q1 2027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4229100" y="9525"/>
              <a:ext cx="6604000" cy="873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87"/>
                </a:lnSpc>
              </a:pPr>
              <a:r>
                <a:rPr lang="en-US" sz="2250" b="true">
                  <a:solidFill>
                    <a:srgbClr val="10243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Integration pilot</a:t>
              </a:r>
            </a:p>
            <a:p>
              <a:pPr algn="l">
                <a:lnSpc>
                  <a:spcPts val="2587"/>
                </a:lnSpc>
              </a:pPr>
              <a:r>
                <a:rPr lang="en-US" sz="2250" b="true">
                  <a:solidFill>
                    <a:srgbClr val="10243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(demo mode)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162925" y="7305675"/>
            <a:ext cx="8124825" cy="661988"/>
            <a:chOff x="0" y="0"/>
            <a:chExt cx="10833100" cy="882650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152400"/>
              <a:ext cx="457200" cy="457200"/>
              <a:chOff x="0" y="0"/>
              <a:chExt cx="457200" cy="4572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457200" cy="457200"/>
              </a:xfrm>
              <a:custGeom>
                <a:avLst/>
                <a:gdLst/>
                <a:ahLst/>
                <a:cxnLst/>
                <a:rect r="r" b="b" t="t" l="l"/>
                <a:pathLst>
                  <a:path h="457200" w="457200">
                    <a:moveTo>
                      <a:pt x="228600" y="0"/>
                    </a:moveTo>
                    <a:cubicBezTo>
                      <a:pt x="354852" y="0"/>
                      <a:pt x="457200" y="102348"/>
                      <a:pt x="457200" y="228600"/>
                    </a:cubicBezTo>
                    <a:cubicBezTo>
                      <a:pt x="457200" y="354852"/>
                      <a:pt x="354852" y="457200"/>
                      <a:pt x="228600" y="457200"/>
                    </a:cubicBezTo>
                    <a:cubicBezTo>
                      <a:pt x="102348" y="457200"/>
                      <a:pt x="0" y="354852"/>
                      <a:pt x="0" y="228600"/>
                    </a:cubicBezTo>
                    <a:cubicBezTo>
                      <a:pt x="0" y="102348"/>
                      <a:pt x="102348" y="0"/>
                      <a:pt x="228600" y="0"/>
                    </a:cubicBezTo>
                    <a:close/>
                  </a:path>
                </a:pathLst>
              </a:custGeom>
              <a:solidFill>
                <a:srgbClr val="08A6A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457200" cy="495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927100" y="63500"/>
              <a:ext cx="279400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true">
                  <a:solidFill>
                    <a:srgbClr val="08A6A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Q2 2027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4229100" y="9525"/>
              <a:ext cx="6604000" cy="873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87"/>
                </a:lnSpc>
              </a:pPr>
              <a:r>
                <a:rPr lang="en-US" sz="2250" b="true">
                  <a:solidFill>
                    <a:srgbClr val="10243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Resource coordination</a:t>
              </a:r>
            </a:p>
            <a:p>
              <a:pPr algn="l">
                <a:lnSpc>
                  <a:spcPts val="2587"/>
                </a:lnSpc>
              </a:pPr>
              <a:r>
                <a:rPr lang="en-US" sz="2250" b="true">
                  <a:solidFill>
                    <a:srgbClr val="10243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+ analytics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6800" y="1047750"/>
            <a:ext cx="47625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b="true">
                <a:solidFill>
                  <a:srgbClr val="08A6A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ResQAI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66800" y="2543175"/>
            <a:ext cx="14287500" cy="1320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 b="true">
                <a:solidFill>
                  <a:srgbClr val="10243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Smarter. Faster. Safer.</a:t>
            </a:r>
          </a:p>
          <a:p>
            <a:pPr algn="l">
              <a:lnSpc>
                <a:spcPts val="5184"/>
              </a:lnSpc>
            </a:pPr>
            <a:r>
              <a:rPr lang="en-US" sz="4800" b="true">
                <a:solidFill>
                  <a:srgbClr val="10243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Emergency response.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66800" y="7286625"/>
            <a:ext cx="4000500" cy="85725"/>
            <a:chOff x="0" y="0"/>
            <a:chExt cx="5334000" cy="1143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334000" cy="114300"/>
            </a:xfrm>
            <a:custGeom>
              <a:avLst/>
              <a:gdLst/>
              <a:ahLst/>
              <a:cxnLst/>
              <a:rect r="r" b="b" t="t" l="l"/>
              <a:pathLst>
                <a:path h="1143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1430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08A6A6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5334000" cy="152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002000" y="857250"/>
            <a:ext cx="1219200" cy="8572500"/>
            <a:chOff x="0" y="0"/>
            <a:chExt cx="1625600" cy="1143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25600" cy="11430000"/>
            </a:xfrm>
            <a:custGeom>
              <a:avLst/>
              <a:gdLst/>
              <a:ahLst/>
              <a:cxnLst/>
              <a:rect r="r" b="b" t="t" l="l"/>
              <a:pathLst>
                <a:path h="11430000" w="1625600">
                  <a:moveTo>
                    <a:pt x="0" y="0"/>
                  </a:moveTo>
                  <a:lnTo>
                    <a:pt x="1625600" y="0"/>
                  </a:lnTo>
                  <a:lnTo>
                    <a:pt x="1625600" y="11430000"/>
                  </a:lnTo>
                  <a:lnTo>
                    <a:pt x="0" y="11430000"/>
                  </a:lnTo>
                  <a:close/>
                </a:path>
              </a:pathLst>
            </a:custGeom>
            <a:solidFill>
              <a:srgbClr val="F3F6F8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625600" cy="1146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002000" y="857250"/>
            <a:ext cx="1219200" cy="4381500"/>
            <a:chOff x="0" y="0"/>
            <a:chExt cx="1625600" cy="5842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25600" cy="5842000"/>
            </a:xfrm>
            <a:custGeom>
              <a:avLst/>
              <a:gdLst/>
              <a:ahLst/>
              <a:cxnLst/>
              <a:rect r="r" b="b" t="t" l="l"/>
              <a:pathLst>
                <a:path h="5842000" w="1625600">
                  <a:moveTo>
                    <a:pt x="0" y="0"/>
                  </a:moveTo>
                  <a:lnTo>
                    <a:pt x="1625600" y="0"/>
                  </a:lnTo>
                  <a:lnTo>
                    <a:pt x="1625600" y="5842000"/>
                  </a:lnTo>
                  <a:lnTo>
                    <a:pt x="0" y="5842000"/>
                  </a:lnTo>
                  <a:close/>
                </a:path>
              </a:pathLst>
            </a:custGeom>
            <a:solidFill>
              <a:srgbClr val="38C7D9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625600" cy="588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002000" y="5238750"/>
            <a:ext cx="1219200" cy="1524000"/>
            <a:chOff x="0" y="0"/>
            <a:chExt cx="1625600" cy="2032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256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1625600">
                  <a:moveTo>
                    <a:pt x="0" y="0"/>
                  </a:moveTo>
                  <a:lnTo>
                    <a:pt x="1625600" y="0"/>
                  </a:lnTo>
                  <a:lnTo>
                    <a:pt x="1625600" y="2032000"/>
                  </a:lnTo>
                  <a:lnTo>
                    <a:pt x="0" y="2032000"/>
                  </a:lnTo>
                  <a:close/>
                </a:path>
              </a:pathLst>
            </a:custGeom>
            <a:solidFill>
              <a:srgbClr val="D94B4B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6256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19056" y="6441281"/>
            <a:ext cx="1800582" cy="652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87"/>
              </a:lnSpc>
            </a:pPr>
            <a:r>
              <a:rPr lang="en-US" sz="225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</a:t>
            </a:r>
          </a:p>
          <a:p>
            <a:pPr algn="ctr">
              <a:lnSpc>
                <a:spcPts val="258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DAHX_aJFWH8</dc:identifier>
  <dcterms:modified xsi:type="dcterms:W3CDTF">2011-08-01T06:04:30Z</dcterms:modified>
  <cp:revision>1</cp:revision>
  <dc:title>ResQAI Hackathon Pitch</dc:title>
</cp:coreProperties>
</file>